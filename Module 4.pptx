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notesMaster" Target="notesMasters/notesMaster1.xml"/><Relationship Id="rId30" Type="http://schemas.openxmlformats.org/officeDocument/2006/relationships/presProps" Target="presProps.xml" /><Relationship Id="rId31" Type="http://schemas.openxmlformats.org/officeDocument/2006/relationships/tableStyles" Target="tableStyles.xml" /><Relationship Id="rId3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3538429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2805125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80161861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69730616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2344070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85403444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3201956" name="Slide Image Placeholder 1"/>
          <p:cNvSpPr>
            <a:spLocks noChangeAspect="1" noGrp="1" noRot="1"/>
          </p:cNvSpPr>
          <p:nvPr>
            <p:ph type="sldImg"/>
          </p:nvPr>
        </p:nvSpPr>
        <p:spPr bwMode="auto">
          <a:xfrm>
            <a:off x="685800" y="1143000"/>
            <a:ext cx="5486400" cy="3086100"/>
          </a:xfrm>
        </p:spPr>
      </p:sp>
      <p:sp>
        <p:nvSpPr>
          <p:cNvPr id="438719338" name="Notes Placeholder 2"/>
          <p:cNvSpPr>
            <a:spLocks noGrp="1"/>
          </p:cNvSpPr>
          <p:nvPr>
            <p:ph type="body" idx="1"/>
          </p:nvPr>
        </p:nvSpPr>
        <p:spPr bwMode="auto"/>
        <p:txBody>
          <a:bodyPr/>
          <a:lstStyle/>
          <a:p>
            <a:pPr>
              <a:defRPr/>
            </a:pPr>
            <a:endParaRPr lang="en-US">
              <a:latin typeface="Arial"/>
              <a:cs typeface="Arial"/>
            </a:endParaRPr>
          </a:p>
        </p:txBody>
      </p:sp>
      <p:sp>
        <p:nvSpPr>
          <p:cNvPr id="863668099"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9554933" name="Slide Image Placeholder 1"/>
          <p:cNvSpPr>
            <a:spLocks noChangeAspect="1" noGrp="1" noRot="1"/>
          </p:cNvSpPr>
          <p:nvPr>
            <p:ph type="sldImg"/>
          </p:nvPr>
        </p:nvSpPr>
        <p:spPr bwMode="auto"/>
      </p:sp>
      <p:sp>
        <p:nvSpPr>
          <p:cNvPr id="1293531328" name="Notes Placeholder 2"/>
          <p:cNvSpPr>
            <a:spLocks noGrp="1"/>
          </p:cNvSpPr>
          <p:nvPr>
            <p:ph type="body" idx="1"/>
          </p:nvPr>
        </p:nvSpPr>
        <p:spPr bwMode="auto"/>
        <p:txBody>
          <a:bodyPr/>
          <a:lstStyle/>
          <a:p>
            <a:pPr>
              <a:defRPr/>
            </a:pPr>
            <a:endParaRPr/>
          </a:p>
        </p:txBody>
      </p:sp>
      <p:sp>
        <p:nvSpPr>
          <p:cNvPr id="883920897" name="Slide Number Placeholder 3"/>
          <p:cNvSpPr>
            <a:spLocks noGrp="1"/>
          </p:cNvSpPr>
          <p:nvPr>
            <p:ph type="sldNum" sz="quarter" idx="10"/>
          </p:nvPr>
        </p:nvSpPr>
        <p:spPr bwMode="auto"/>
        <p:txBody>
          <a:bodyPr/>
          <a:lstStyle/>
          <a:p>
            <a:pPr>
              <a:defRPr/>
            </a:pPr>
            <a:fld id="{BAA26CF4-6928-48C8-87D4-92E949A8368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077680" name="Slide Image Placeholder 1"/>
          <p:cNvSpPr>
            <a:spLocks noChangeAspect="1" noGrp="1" noRot="1"/>
          </p:cNvSpPr>
          <p:nvPr>
            <p:ph type="sldImg"/>
          </p:nvPr>
        </p:nvSpPr>
        <p:spPr bwMode="auto"/>
      </p:sp>
      <p:sp>
        <p:nvSpPr>
          <p:cNvPr id="1555640" name="Notes Placeholder 2"/>
          <p:cNvSpPr>
            <a:spLocks noGrp="1"/>
          </p:cNvSpPr>
          <p:nvPr>
            <p:ph type="body" idx="1"/>
          </p:nvPr>
        </p:nvSpPr>
        <p:spPr bwMode="auto"/>
        <p:txBody>
          <a:bodyPr/>
          <a:lstStyle/>
          <a:p>
            <a:pPr>
              <a:defRPr/>
            </a:pPr>
            <a:endParaRPr/>
          </a:p>
        </p:txBody>
      </p:sp>
      <p:sp>
        <p:nvSpPr>
          <p:cNvPr id="2114845002" name="Slide Number Placeholder 3"/>
          <p:cNvSpPr>
            <a:spLocks noGrp="1"/>
          </p:cNvSpPr>
          <p:nvPr>
            <p:ph type="sldNum" sz="quarter" idx="10"/>
          </p:nvPr>
        </p:nvSpPr>
        <p:spPr bwMode="auto"/>
        <p:txBody>
          <a:bodyPr/>
          <a:lstStyle/>
          <a:p>
            <a:pPr>
              <a:defRPr/>
            </a:pPr>
            <a:fld id="{4F9FC3EC-BA7B-844B-89E8-F8D010A6AAA3}"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9633127" name="Slide Image Placeholder 1"/>
          <p:cNvSpPr>
            <a:spLocks noChangeAspect="1" noGrp="1" noRot="1"/>
          </p:cNvSpPr>
          <p:nvPr>
            <p:ph type="sldImg"/>
          </p:nvPr>
        </p:nvSpPr>
        <p:spPr bwMode="auto"/>
      </p:sp>
      <p:sp>
        <p:nvSpPr>
          <p:cNvPr id="1562642582" name="Notes Placeholder 2"/>
          <p:cNvSpPr>
            <a:spLocks noGrp="1"/>
          </p:cNvSpPr>
          <p:nvPr>
            <p:ph type="body" idx="1"/>
          </p:nvPr>
        </p:nvSpPr>
        <p:spPr bwMode="auto"/>
        <p:txBody>
          <a:bodyPr/>
          <a:lstStyle/>
          <a:p>
            <a:pPr>
              <a:defRPr/>
            </a:pPr>
            <a:endParaRPr/>
          </a:p>
        </p:txBody>
      </p:sp>
      <p:sp>
        <p:nvSpPr>
          <p:cNvPr id="1424745114" name="Slide Number Placeholder 3"/>
          <p:cNvSpPr>
            <a:spLocks noGrp="1"/>
          </p:cNvSpPr>
          <p:nvPr>
            <p:ph type="sldNum" sz="quarter" idx="10"/>
          </p:nvPr>
        </p:nvSpPr>
        <p:spPr bwMode="auto"/>
        <p:txBody>
          <a:bodyPr/>
          <a:lstStyle/>
          <a:p>
            <a:pPr>
              <a:defRPr/>
            </a:pPr>
            <a:fld id="{EA5D49E0-505F-3AA2-3E9C-27808B1EFB8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6975203" name="Slide Image Placeholder 1"/>
          <p:cNvSpPr>
            <a:spLocks noChangeAspect="1" noGrp="1" noRot="1"/>
          </p:cNvSpPr>
          <p:nvPr>
            <p:ph type="sldImg"/>
          </p:nvPr>
        </p:nvSpPr>
        <p:spPr bwMode="auto"/>
      </p:sp>
      <p:sp>
        <p:nvSpPr>
          <p:cNvPr id="1912139607" name="Notes Placeholder 2"/>
          <p:cNvSpPr>
            <a:spLocks noGrp="1"/>
          </p:cNvSpPr>
          <p:nvPr>
            <p:ph type="body" idx="1"/>
          </p:nvPr>
        </p:nvSpPr>
        <p:spPr bwMode="auto"/>
        <p:txBody>
          <a:bodyPr/>
          <a:lstStyle/>
          <a:p>
            <a:pPr>
              <a:defRPr/>
            </a:pPr>
            <a:endParaRPr/>
          </a:p>
        </p:txBody>
      </p:sp>
      <p:sp>
        <p:nvSpPr>
          <p:cNvPr id="943740176" name="Slide Number Placeholder 3"/>
          <p:cNvSpPr>
            <a:spLocks noGrp="1"/>
          </p:cNvSpPr>
          <p:nvPr>
            <p:ph type="sldNum" sz="quarter" idx="10"/>
          </p:nvPr>
        </p:nvSpPr>
        <p:spPr bwMode="auto"/>
        <p:txBody>
          <a:bodyPr/>
          <a:lstStyle/>
          <a:p>
            <a:pPr>
              <a:defRPr/>
            </a:pPr>
            <a:fld id="{398B918D-A36F-E94F-664B-FF7C53E05E48}"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3665607" name="Slide Image Placeholder 1"/>
          <p:cNvSpPr>
            <a:spLocks noChangeAspect="1" noGrp="1" noRot="1"/>
          </p:cNvSpPr>
          <p:nvPr>
            <p:ph type="sldImg"/>
          </p:nvPr>
        </p:nvSpPr>
        <p:spPr bwMode="auto"/>
      </p:sp>
      <p:sp>
        <p:nvSpPr>
          <p:cNvPr id="1476227446" name="Notes Placeholder 2"/>
          <p:cNvSpPr>
            <a:spLocks noGrp="1"/>
          </p:cNvSpPr>
          <p:nvPr>
            <p:ph type="body" idx="1"/>
          </p:nvPr>
        </p:nvSpPr>
        <p:spPr bwMode="auto"/>
        <p:txBody>
          <a:bodyPr/>
          <a:lstStyle/>
          <a:p>
            <a:pPr>
              <a:defRPr/>
            </a:pPr>
            <a:endParaRPr/>
          </a:p>
        </p:txBody>
      </p:sp>
      <p:sp>
        <p:nvSpPr>
          <p:cNvPr id="1622150094" name="Slide Number Placeholder 3"/>
          <p:cNvSpPr>
            <a:spLocks noGrp="1"/>
          </p:cNvSpPr>
          <p:nvPr>
            <p:ph type="sldNum" sz="quarter" idx="10"/>
          </p:nvPr>
        </p:nvSpPr>
        <p:spPr bwMode="auto"/>
        <p:txBody>
          <a:bodyPr/>
          <a:lstStyle/>
          <a:p>
            <a:pPr>
              <a:defRPr/>
            </a:pPr>
            <a:fld id="{79F7827E-65BD-C099-7780-5E8434DD7537}"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6015305" name="Slide Image Placeholder 1"/>
          <p:cNvSpPr>
            <a:spLocks noChangeAspect="1" noGrp="1" noRot="1"/>
          </p:cNvSpPr>
          <p:nvPr>
            <p:ph type="sldImg"/>
          </p:nvPr>
        </p:nvSpPr>
        <p:spPr bwMode="auto"/>
      </p:sp>
      <p:sp>
        <p:nvSpPr>
          <p:cNvPr id="1538318437" name="Notes Placeholder 2"/>
          <p:cNvSpPr>
            <a:spLocks noGrp="1"/>
          </p:cNvSpPr>
          <p:nvPr>
            <p:ph type="body" idx="1"/>
          </p:nvPr>
        </p:nvSpPr>
        <p:spPr bwMode="auto"/>
        <p:txBody>
          <a:bodyPr/>
          <a:lstStyle/>
          <a:p>
            <a:pPr>
              <a:defRPr/>
            </a:pPr>
            <a:endParaRPr/>
          </a:p>
        </p:txBody>
      </p:sp>
      <p:sp>
        <p:nvSpPr>
          <p:cNvPr id="1053868843" name="Slide Number Placeholder 3"/>
          <p:cNvSpPr>
            <a:spLocks noGrp="1"/>
          </p:cNvSpPr>
          <p:nvPr>
            <p:ph type="sldNum" sz="quarter" idx="10"/>
          </p:nvPr>
        </p:nvSpPr>
        <p:spPr bwMode="auto"/>
        <p:txBody>
          <a:bodyPr/>
          <a:lstStyle/>
          <a:p>
            <a:pPr>
              <a:defRPr/>
            </a:pPr>
            <a:fld id="{D5CD4B9F-7401-7610-8104-1A18E33B5F9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7642118" name="Slide Image Placeholder 1"/>
          <p:cNvSpPr>
            <a:spLocks noChangeAspect="1" noGrp="1" noRot="1"/>
          </p:cNvSpPr>
          <p:nvPr>
            <p:ph type="sldImg"/>
          </p:nvPr>
        </p:nvSpPr>
        <p:spPr bwMode="auto"/>
      </p:sp>
      <p:sp>
        <p:nvSpPr>
          <p:cNvPr id="515708471" name="Notes Placeholder 2"/>
          <p:cNvSpPr>
            <a:spLocks noGrp="1"/>
          </p:cNvSpPr>
          <p:nvPr>
            <p:ph type="body" idx="1"/>
          </p:nvPr>
        </p:nvSpPr>
        <p:spPr bwMode="auto"/>
        <p:txBody>
          <a:bodyPr/>
          <a:lstStyle/>
          <a:p>
            <a:pPr>
              <a:defRPr/>
            </a:pPr>
            <a:endParaRPr/>
          </a:p>
        </p:txBody>
      </p:sp>
      <p:sp>
        <p:nvSpPr>
          <p:cNvPr id="1892259045" name="Slide Number Placeholder 3"/>
          <p:cNvSpPr>
            <a:spLocks noGrp="1"/>
          </p:cNvSpPr>
          <p:nvPr>
            <p:ph type="sldNum" sz="quarter" idx="10"/>
          </p:nvPr>
        </p:nvSpPr>
        <p:spPr bwMode="auto"/>
        <p:txBody>
          <a:bodyPr/>
          <a:lstStyle/>
          <a:p>
            <a:pPr>
              <a:defRPr/>
            </a:pPr>
            <a:fld id="{6BBD93B2-BD22-3E7C-1DED-AADA20750C60}"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5924358" name="Slide Image Placeholder 1"/>
          <p:cNvSpPr>
            <a:spLocks noChangeAspect="1" noGrp="1" noRot="1"/>
          </p:cNvSpPr>
          <p:nvPr>
            <p:ph type="sldImg"/>
          </p:nvPr>
        </p:nvSpPr>
        <p:spPr bwMode="auto"/>
      </p:sp>
      <p:sp>
        <p:nvSpPr>
          <p:cNvPr id="711457143" name="Notes Placeholder 2"/>
          <p:cNvSpPr>
            <a:spLocks noGrp="1"/>
          </p:cNvSpPr>
          <p:nvPr>
            <p:ph type="body" idx="1"/>
          </p:nvPr>
        </p:nvSpPr>
        <p:spPr bwMode="auto"/>
        <p:txBody>
          <a:bodyPr/>
          <a:lstStyle/>
          <a:p>
            <a:pPr>
              <a:defRPr/>
            </a:pPr>
            <a:endParaRPr/>
          </a:p>
        </p:txBody>
      </p:sp>
      <p:sp>
        <p:nvSpPr>
          <p:cNvPr id="486406401" name="Slide Number Placeholder 3"/>
          <p:cNvSpPr>
            <a:spLocks noGrp="1"/>
          </p:cNvSpPr>
          <p:nvPr>
            <p:ph type="sldNum" sz="quarter" idx="10"/>
          </p:nvPr>
        </p:nvSpPr>
        <p:spPr bwMode="auto"/>
        <p:txBody>
          <a:bodyPr/>
          <a:lstStyle/>
          <a:p>
            <a:pPr>
              <a:defRPr/>
            </a:pPr>
            <a:fld id="{550C1641-D5DB-56BC-1359-B1F4112B5FA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78C326-4B96-CB79-5416-3951BE75B73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133677" name="Slide Image Placeholder 1"/>
          <p:cNvSpPr>
            <a:spLocks noChangeAspect="1" noGrp="1" noRot="1"/>
          </p:cNvSpPr>
          <p:nvPr>
            <p:ph type="sldImg"/>
          </p:nvPr>
        </p:nvSpPr>
        <p:spPr bwMode="auto"/>
      </p:sp>
      <p:sp>
        <p:nvSpPr>
          <p:cNvPr id="531807635" name="Notes Placeholder 2"/>
          <p:cNvSpPr>
            <a:spLocks noGrp="1"/>
          </p:cNvSpPr>
          <p:nvPr>
            <p:ph type="body" idx="1"/>
          </p:nvPr>
        </p:nvSpPr>
        <p:spPr bwMode="auto"/>
        <p:txBody>
          <a:bodyPr/>
          <a:lstStyle/>
          <a:p>
            <a:pPr>
              <a:defRPr/>
            </a:pPr>
            <a:endParaRPr/>
          </a:p>
        </p:txBody>
      </p:sp>
      <p:sp>
        <p:nvSpPr>
          <p:cNvPr id="435252252" name="Slide Number Placeholder 3"/>
          <p:cNvSpPr>
            <a:spLocks noGrp="1"/>
          </p:cNvSpPr>
          <p:nvPr>
            <p:ph type="sldNum" sz="quarter" idx="10"/>
          </p:nvPr>
        </p:nvSpPr>
        <p:spPr bwMode="auto"/>
        <p:txBody>
          <a:bodyPr/>
          <a:lstStyle/>
          <a:p>
            <a:pPr>
              <a:defRPr/>
            </a:pPr>
            <a:fld id="{5BA35ED7-6B3F-E8F3-CA2F-508DF3A08B4F}"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2854097" name="Slide Image Placeholder 1"/>
          <p:cNvSpPr>
            <a:spLocks noChangeAspect="1" noGrp="1" noRot="1"/>
          </p:cNvSpPr>
          <p:nvPr>
            <p:ph type="sldImg"/>
          </p:nvPr>
        </p:nvSpPr>
        <p:spPr bwMode="auto"/>
      </p:sp>
      <p:sp>
        <p:nvSpPr>
          <p:cNvPr id="1475766295" name="Notes Placeholder 2"/>
          <p:cNvSpPr>
            <a:spLocks noGrp="1"/>
          </p:cNvSpPr>
          <p:nvPr>
            <p:ph type="body" idx="1"/>
          </p:nvPr>
        </p:nvSpPr>
        <p:spPr bwMode="auto"/>
        <p:txBody>
          <a:bodyPr/>
          <a:lstStyle/>
          <a:p>
            <a:pPr>
              <a:defRPr/>
            </a:pPr>
            <a:endParaRPr/>
          </a:p>
        </p:txBody>
      </p:sp>
      <p:sp>
        <p:nvSpPr>
          <p:cNvPr id="1604833584" name="Slide Number Placeholder 3"/>
          <p:cNvSpPr>
            <a:spLocks noGrp="1"/>
          </p:cNvSpPr>
          <p:nvPr>
            <p:ph type="sldNum" sz="quarter" idx="10"/>
          </p:nvPr>
        </p:nvSpPr>
        <p:spPr bwMode="auto"/>
        <p:txBody>
          <a:bodyPr/>
          <a:lstStyle/>
          <a:p>
            <a:pPr>
              <a:defRPr/>
            </a:pPr>
            <a:fld id="{BB3776D7-77C5-135A-B99A-9F569D702B19}"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3835845" name="Slide Image Placeholder 1"/>
          <p:cNvSpPr>
            <a:spLocks noChangeAspect="1" noGrp="1" noRot="1"/>
          </p:cNvSpPr>
          <p:nvPr>
            <p:ph type="sldImg"/>
          </p:nvPr>
        </p:nvSpPr>
        <p:spPr bwMode="auto"/>
      </p:sp>
      <p:sp>
        <p:nvSpPr>
          <p:cNvPr id="989828603" name="Notes Placeholder 2"/>
          <p:cNvSpPr>
            <a:spLocks noGrp="1"/>
          </p:cNvSpPr>
          <p:nvPr>
            <p:ph type="body" idx="1"/>
          </p:nvPr>
        </p:nvSpPr>
        <p:spPr bwMode="auto"/>
        <p:txBody>
          <a:bodyPr/>
          <a:lstStyle/>
          <a:p>
            <a:pPr>
              <a:defRPr/>
            </a:pPr>
            <a:endParaRPr/>
          </a:p>
        </p:txBody>
      </p:sp>
      <p:sp>
        <p:nvSpPr>
          <p:cNvPr id="212098125" name="Slide Number Placeholder 3"/>
          <p:cNvSpPr>
            <a:spLocks noGrp="1"/>
          </p:cNvSpPr>
          <p:nvPr>
            <p:ph type="sldNum" sz="quarter" idx="10"/>
          </p:nvPr>
        </p:nvSpPr>
        <p:spPr bwMode="auto"/>
        <p:txBody>
          <a:bodyPr/>
          <a:lstStyle/>
          <a:p>
            <a:pPr>
              <a:defRPr/>
            </a:pPr>
            <a:fld id="{01F1E0F6-C349-71A2-BC3C-72C389E4A51A}"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44A723A-A869-B847-2AE2-E58A3B03021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3DE2927-A449-79C9-4055-274658C16425}"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D01179B-61F1-7FA0-E6FE-996918F65B01}"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B8F33E-DD33-BC35-1661-753F31B25496}"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75E1560-F3EA-2633-6A6D-F5984BBB2E2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094BED-E323-DD6B-B6E7-50CC67BF3C87}"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14FAA8-A524-2490-FF6F-7A425D9BED34}"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CC0E671-A5CB-9998-DC57-D58C4681FBD3}"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D3FE700-0DB1-EE3E-8194-1C8EBF2683D7}"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26F3C5-12B8-FFEE-0A0F-64012C101517}"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3E43DD-3063-493E-B546-01AE13975168}"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0C68C6-C169-B2BB-337B-D2D00896356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634362705"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413400896"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309296912"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30921679" name="Footer Placeholder 4"/>
          <p:cNvSpPr>
            <a:spLocks noGrp="1"/>
          </p:cNvSpPr>
          <p:nvPr>
            <p:ph type="ftr" sz="quarter" idx="11"/>
          </p:nvPr>
        </p:nvSpPr>
        <p:spPr bwMode="auto"/>
        <p:txBody>
          <a:bodyPr/>
          <a:lstStyle/>
          <a:p>
            <a:pPr>
              <a:defRPr/>
            </a:pPr>
            <a:endParaRPr lang="en-US"/>
          </a:p>
        </p:txBody>
      </p:sp>
      <p:sp>
        <p:nvSpPr>
          <p:cNvPr id="56898230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7134438" name="Title 1"/>
          <p:cNvSpPr>
            <a:spLocks noGrp="1"/>
          </p:cNvSpPr>
          <p:nvPr>
            <p:ph type="title"/>
          </p:nvPr>
        </p:nvSpPr>
        <p:spPr bwMode="auto"/>
        <p:txBody>
          <a:bodyPr/>
          <a:lstStyle/>
          <a:p>
            <a:pPr>
              <a:defRPr/>
            </a:pPr>
            <a:r>
              <a:rPr lang="en-US"/>
              <a:t>Click to edit Master title style</a:t>
            </a:r>
            <a:endParaRPr lang="en-US"/>
          </a:p>
        </p:txBody>
      </p:sp>
      <p:sp>
        <p:nvSpPr>
          <p:cNvPr id="213185110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2938384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93460655" name="Footer Placeholder 4"/>
          <p:cNvSpPr>
            <a:spLocks noGrp="1"/>
          </p:cNvSpPr>
          <p:nvPr>
            <p:ph type="ftr" sz="quarter" idx="11"/>
          </p:nvPr>
        </p:nvSpPr>
        <p:spPr bwMode="auto"/>
        <p:txBody>
          <a:bodyPr/>
          <a:lstStyle/>
          <a:p>
            <a:pPr>
              <a:defRPr/>
            </a:pPr>
            <a:endParaRPr lang="en-US"/>
          </a:p>
        </p:txBody>
      </p:sp>
      <p:sp>
        <p:nvSpPr>
          <p:cNvPr id="204037807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8554035"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742644017"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2116865623"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269914" name="Footer Placeholder 4"/>
          <p:cNvSpPr>
            <a:spLocks noGrp="1"/>
          </p:cNvSpPr>
          <p:nvPr>
            <p:ph type="ftr" sz="quarter" idx="11"/>
          </p:nvPr>
        </p:nvSpPr>
        <p:spPr bwMode="auto"/>
        <p:txBody>
          <a:bodyPr/>
          <a:lstStyle/>
          <a:p>
            <a:pPr>
              <a:defRPr/>
            </a:pPr>
            <a:endParaRPr lang="en-US"/>
          </a:p>
        </p:txBody>
      </p:sp>
      <p:sp>
        <p:nvSpPr>
          <p:cNvPr id="89610543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77093894" name="Title 1"/>
          <p:cNvSpPr>
            <a:spLocks noGrp="1"/>
          </p:cNvSpPr>
          <p:nvPr>
            <p:ph type="title"/>
          </p:nvPr>
        </p:nvSpPr>
        <p:spPr bwMode="auto"/>
        <p:txBody>
          <a:bodyPr/>
          <a:lstStyle/>
          <a:p>
            <a:pPr>
              <a:defRPr/>
            </a:pPr>
            <a:r>
              <a:rPr lang="en-US"/>
              <a:t>Click to edit Master title style</a:t>
            </a:r>
            <a:endParaRPr lang="en-US"/>
          </a:p>
        </p:txBody>
      </p:sp>
      <p:sp>
        <p:nvSpPr>
          <p:cNvPr id="880286925"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38656360"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0763277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64766424" name="Footer Placeholder 5"/>
          <p:cNvSpPr>
            <a:spLocks noGrp="1"/>
          </p:cNvSpPr>
          <p:nvPr>
            <p:ph type="ftr" sz="quarter" idx="11"/>
          </p:nvPr>
        </p:nvSpPr>
        <p:spPr bwMode="auto"/>
        <p:txBody>
          <a:bodyPr/>
          <a:lstStyle/>
          <a:p>
            <a:pPr>
              <a:defRPr/>
            </a:pPr>
            <a:endParaRPr lang="en-US"/>
          </a:p>
        </p:txBody>
      </p:sp>
      <p:sp>
        <p:nvSpPr>
          <p:cNvPr id="17588510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54357727"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273163577"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86309865"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4877888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2757394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90210725"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110127891" name="Footer Placeholder 7"/>
          <p:cNvSpPr>
            <a:spLocks noGrp="1"/>
          </p:cNvSpPr>
          <p:nvPr>
            <p:ph type="ftr" sz="quarter" idx="11"/>
          </p:nvPr>
        </p:nvSpPr>
        <p:spPr bwMode="auto"/>
        <p:txBody>
          <a:bodyPr/>
          <a:lstStyle/>
          <a:p>
            <a:pPr>
              <a:defRPr/>
            </a:pPr>
            <a:endParaRPr lang="en-US"/>
          </a:p>
        </p:txBody>
      </p:sp>
      <p:sp>
        <p:nvSpPr>
          <p:cNvPr id="1544106738"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832467499" name="Title 1"/>
          <p:cNvSpPr>
            <a:spLocks noGrp="1"/>
          </p:cNvSpPr>
          <p:nvPr>
            <p:ph type="title"/>
          </p:nvPr>
        </p:nvSpPr>
        <p:spPr bwMode="auto"/>
        <p:txBody>
          <a:bodyPr/>
          <a:lstStyle/>
          <a:p>
            <a:pPr>
              <a:defRPr/>
            </a:pPr>
            <a:r>
              <a:rPr lang="en-US"/>
              <a:t>Click to edit Master title style</a:t>
            </a:r>
            <a:endParaRPr lang="en-US"/>
          </a:p>
        </p:txBody>
      </p:sp>
      <p:sp>
        <p:nvSpPr>
          <p:cNvPr id="468017950"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68011333" name="Footer Placeholder 3"/>
          <p:cNvSpPr>
            <a:spLocks noGrp="1"/>
          </p:cNvSpPr>
          <p:nvPr>
            <p:ph type="ftr" sz="quarter" idx="11"/>
          </p:nvPr>
        </p:nvSpPr>
        <p:spPr bwMode="auto"/>
        <p:txBody>
          <a:bodyPr/>
          <a:lstStyle/>
          <a:p>
            <a:pPr>
              <a:defRPr/>
            </a:pPr>
            <a:endParaRPr lang="en-US"/>
          </a:p>
        </p:txBody>
      </p:sp>
      <p:sp>
        <p:nvSpPr>
          <p:cNvPr id="2042285706"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623957323"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34940732" name="Footer Placeholder 2"/>
          <p:cNvSpPr>
            <a:spLocks noGrp="1"/>
          </p:cNvSpPr>
          <p:nvPr>
            <p:ph type="ftr" sz="quarter" idx="11"/>
          </p:nvPr>
        </p:nvSpPr>
        <p:spPr bwMode="auto"/>
        <p:txBody>
          <a:bodyPr/>
          <a:lstStyle/>
          <a:p>
            <a:pPr>
              <a:defRPr/>
            </a:pPr>
            <a:endParaRPr lang="en-US"/>
          </a:p>
        </p:txBody>
      </p:sp>
      <p:sp>
        <p:nvSpPr>
          <p:cNvPr id="691860267"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96085712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541141588"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600603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7902413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3849686" name="Footer Placeholder 5"/>
          <p:cNvSpPr>
            <a:spLocks noGrp="1"/>
          </p:cNvSpPr>
          <p:nvPr>
            <p:ph type="ftr" sz="quarter" idx="11"/>
          </p:nvPr>
        </p:nvSpPr>
        <p:spPr bwMode="auto"/>
        <p:txBody>
          <a:bodyPr/>
          <a:lstStyle/>
          <a:p>
            <a:pPr>
              <a:defRPr/>
            </a:pPr>
            <a:endParaRPr lang="en-US"/>
          </a:p>
        </p:txBody>
      </p:sp>
      <p:sp>
        <p:nvSpPr>
          <p:cNvPr id="96331108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6497864"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7130112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92141970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1479394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11473988" name="Footer Placeholder 5"/>
          <p:cNvSpPr>
            <a:spLocks noGrp="1"/>
          </p:cNvSpPr>
          <p:nvPr>
            <p:ph type="ftr" sz="quarter" idx="11"/>
          </p:nvPr>
        </p:nvSpPr>
        <p:spPr bwMode="auto"/>
        <p:txBody>
          <a:bodyPr/>
          <a:lstStyle/>
          <a:p>
            <a:pPr>
              <a:defRPr/>
            </a:pPr>
            <a:endParaRPr lang="en-US"/>
          </a:p>
        </p:txBody>
      </p:sp>
      <p:sp>
        <p:nvSpPr>
          <p:cNvPr id="100410489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8815425" name="Title 1"/>
          <p:cNvSpPr>
            <a:spLocks noGrp="1"/>
          </p:cNvSpPr>
          <p:nvPr>
            <p:ph type="title"/>
          </p:nvPr>
        </p:nvSpPr>
        <p:spPr bwMode="auto"/>
        <p:txBody>
          <a:bodyPr/>
          <a:lstStyle/>
          <a:p>
            <a:pPr>
              <a:defRPr/>
            </a:pPr>
            <a:r>
              <a:rPr lang="en-US"/>
              <a:t>Click to edit Master title style</a:t>
            </a:r>
            <a:endParaRPr lang="en-US"/>
          </a:p>
        </p:txBody>
      </p:sp>
      <p:sp>
        <p:nvSpPr>
          <p:cNvPr id="45760830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09518063"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827182623" name="Footer Placeholder 4"/>
          <p:cNvSpPr>
            <a:spLocks noGrp="1"/>
          </p:cNvSpPr>
          <p:nvPr>
            <p:ph type="ftr" sz="quarter" idx="11"/>
          </p:nvPr>
        </p:nvSpPr>
        <p:spPr bwMode="auto"/>
        <p:txBody>
          <a:bodyPr/>
          <a:lstStyle/>
          <a:p>
            <a:pPr>
              <a:defRPr/>
            </a:pPr>
            <a:endParaRPr lang="en-US"/>
          </a:p>
        </p:txBody>
      </p:sp>
      <p:sp>
        <p:nvSpPr>
          <p:cNvPr id="148164413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9009016"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40207053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308011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04551981" name="Footer Placeholder 4"/>
          <p:cNvSpPr>
            <a:spLocks noGrp="1"/>
          </p:cNvSpPr>
          <p:nvPr>
            <p:ph type="ftr" sz="quarter" idx="11"/>
          </p:nvPr>
        </p:nvSpPr>
        <p:spPr bwMode="auto"/>
        <p:txBody>
          <a:bodyPr/>
          <a:lstStyle/>
          <a:p>
            <a:pPr>
              <a:defRPr/>
            </a:pPr>
            <a:endParaRPr lang="en-US"/>
          </a:p>
        </p:txBody>
      </p:sp>
      <p:sp>
        <p:nvSpPr>
          <p:cNvPr id="94552851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49622864"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40834835"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63830592"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47786720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2135886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3049019" name="Title 1"/>
          <p:cNvSpPr>
            <a:spLocks noGrp="1"/>
          </p:cNvSpPr>
          <p:nvPr>
            <p:ph type="ctrTitle"/>
          </p:nvPr>
        </p:nvSpPr>
        <p:spPr bwMode="auto"/>
        <p:txBody>
          <a:bodyPr/>
          <a:lstStyle/>
          <a:p>
            <a:pPr>
              <a:defRPr/>
            </a:pPr>
            <a:r>
              <a:rPr lang="en-IN"/>
              <a:t>Module 4</a:t>
            </a:r>
            <a:endParaRPr lang="en-US"/>
          </a:p>
        </p:txBody>
      </p:sp>
      <p:sp>
        <p:nvSpPr>
          <p:cNvPr id="104460400" name="Subtitle 2"/>
          <p:cNvSpPr>
            <a:spLocks noGrp="1"/>
          </p:cNvSpPr>
          <p:nvPr>
            <p:ph type="subTitle"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0831634"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Atoms</a:t>
            </a:r>
            <a:endParaRPr sz="2000" b="1"/>
          </a:p>
        </p:txBody>
      </p:sp>
      <p:sp>
        <p:nvSpPr>
          <p:cNvPr id="42812342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sz="2000" b="0" i="0" u="none">
                <a:solidFill>
                  <a:srgbClr val="000000"/>
                </a:solidFill>
                <a:latin typeface="Times New Roman"/>
                <a:ea typeface="Times New Roman"/>
                <a:cs typeface="Times New Roman"/>
              </a:rPr>
              <a:t>Everything is made of </a:t>
            </a:r>
            <a:r>
              <a:rPr sz="2000" b="0" i="0" u="none">
                <a:solidFill>
                  <a:srgbClr val="000000"/>
                </a:solidFill>
                <a:latin typeface="Times New Roman"/>
                <a:ea typeface="Times New Roman"/>
                <a:cs typeface="Times New Roman"/>
              </a:rPr>
              <a:t>atoms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Inside an atom: </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Center → </a:t>
            </a:r>
            <a:r>
              <a:rPr sz="2000" b="0" i="0" u="none">
                <a:solidFill>
                  <a:srgbClr val="000000"/>
                </a:solidFill>
                <a:latin typeface="Times New Roman"/>
                <a:ea typeface="Times New Roman"/>
                <a:cs typeface="Times New Roman"/>
              </a:rPr>
              <a:t>nucleus</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Around it → </a:t>
            </a:r>
            <a:r>
              <a:rPr sz="2000" b="0" i="0" u="none">
                <a:solidFill>
                  <a:srgbClr val="000000"/>
                </a:solidFill>
                <a:latin typeface="Times New Roman"/>
                <a:ea typeface="Times New Roman"/>
                <a:cs typeface="Times New Roman"/>
              </a:rPr>
              <a:t>electrons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Electrons in the </a:t>
            </a:r>
            <a:r>
              <a:rPr sz="2000" b="0" i="0" u="none">
                <a:solidFill>
                  <a:srgbClr val="000000"/>
                </a:solidFill>
                <a:latin typeface="Times New Roman"/>
                <a:ea typeface="Times New Roman"/>
                <a:cs typeface="Times New Roman"/>
              </a:rPr>
              <a:t>outermost shell (valence electrons)</a:t>
            </a:r>
            <a:r>
              <a:rPr sz="2000" b="0" i="0" u="none">
                <a:solidFill>
                  <a:srgbClr val="000000"/>
                </a:solidFill>
                <a:latin typeface="Times New Roman"/>
                <a:ea typeface="Times New Roman"/>
                <a:cs typeface="Times New Roman"/>
              </a:rPr>
              <a:t> are important </a:t>
            </a:r>
            <a:r>
              <a:rPr sz="2000" b="0" i="0" u="none">
                <a:solidFill>
                  <a:srgbClr val="000000"/>
                </a:solidFill>
                <a:latin typeface="Times New Roman"/>
                <a:ea typeface="Times New Roman"/>
                <a:cs typeface="Times New Roman"/>
              </a:rPr>
              <a:t> These electrons can </a:t>
            </a:r>
            <a:r>
              <a:rPr sz="2000" b="0" i="0" u="none">
                <a:solidFill>
                  <a:srgbClr val="000000"/>
                </a:solidFill>
                <a:latin typeface="Times New Roman"/>
                <a:ea typeface="Times New Roman"/>
                <a:cs typeface="Times New Roman"/>
              </a:rPr>
              <a:t>move or participate in conduction</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An </a:t>
            </a:r>
            <a:r>
              <a:rPr sz="2000" b="0" i="0" u="none">
                <a:solidFill>
                  <a:srgbClr val="000000"/>
                </a:solidFill>
                <a:latin typeface="Times New Roman"/>
                <a:ea typeface="Times New Roman"/>
                <a:cs typeface="Times New Roman"/>
              </a:rPr>
              <a:t>electron</a:t>
            </a:r>
            <a:r>
              <a:rPr sz="2000" b="0" i="0" u="none">
                <a:solidFill>
                  <a:srgbClr val="000000"/>
                </a:solidFill>
                <a:latin typeface="Times New Roman"/>
                <a:ea typeface="Times New Roman"/>
                <a:cs typeface="Times New Roman"/>
              </a:rPr>
              <a:t> is a tiny particle with </a:t>
            </a:r>
            <a:r>
              <a:rPr sz="2000" b="0" i="0" u="none">
                <a:solidFill>
                  <a:srgbClr val="000000"/>
                </a:solidFill>
                <a:latin typeface="Times New Roman"/>
                <a:ea typeface="Times New Roman"/>
                <a:cs typeface="Times New Roman"/>
              </a:rPr>
              <a:t>negative charge (–)</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It can </a:t>
            </a:r>
            <a:r>
              <a:rPr sz="2000" b="0" i="0" u="none">
                <a:solidFill>
                  <a:srgbClr val="000000"/>
                </a:solidFill>
                <a:latin typeface="Times New Roman"/>
                <a:ea typeface="Times New Roman"/>
                <a:cs typeface="Times New Roman"/>
              </a:rPr>
              <a:t>move from one place to another</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When an electron leaves its position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a:t>
            </a:r>
            <a:r>
              <a:rPr lang="en-IN"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t leaves an </a:t>
            </a:r>
            <a:r>
              <a:rPr sz="2000" b="0" i="0" u="none">
                <a:solidFill>
                  <a:srgbClr val="000000"/>
                </a:solidFill>
                <a:latin typeface="Times New Roman"/>
                <a:ea typeface="Times New Roman"/>
                <a:cs typeface="Times New Roman"/>
              </a:rPr>
              <a:t>empty space</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That empty space is called a</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Hole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Hole is </a:t>
            </a:r>
            <a:r>
              <a:rPr sz="2000" b="0" i="0" u="none">
                <a:solidFill>
                  <a:srgbClr val="000000"/>
                </a:solidFill>
                <a:latin typeface="Times New Roman"/>
                <a:ea typeface="Times New Roman"/>
                <a:cs typeface="Times New Roman"/>
              </a:rPr>
              <a:t>not a real particle</a:t>
            </a:r>
            <a:r>
              <a:rPr lang="en-IN" sz="2000" b="0">
                <a:latin typeface="Times New Roman"/>
                <a:ea typeface="Times New Roman"/>
                <a:cs typeface="Times New Roman"/>
              </a:rPr>
              <a:t>. </a:t>
            </a:r>
            <a:r>
              <a:rPr sz="2000" b="0" i="0" u="none">
                <a:solidFill>
                  <a:srgbClr val="000000"/>
                </a:solidFill>
                <a:latin typeface="Times New Roman"/>
                <a:ea typeface="Times New Roman"/>
                <a:cs typeface="Times New Roman"/>
              </a:rPr>
              <a:t> It is just a </a:t>
            </a:r>
            <a:r>
              <a:rPr sz="2000" b="0" i="0" u="none">
                <a:solidFill>
                  <a:srgbClr val="000000"/>
                </a:solidFill>
                <a:latin typeface="Times New Roman"/>
                <a:ea typeface="Times New Roman"/>
                <a:cs typeface="Times New Roman"/>
              </a:rPr>
              <a:t>missing electron</a:t>
            </a:r>
            <a:r>
              <a:rPr lang="en-IN" sz="2000" b="0">
                <a:latin typeface="Times New Roman"/>
                <a:ea typeface="Times New Roman"/>
                <a:cs typeface="Times New Roman"/>
              </a:rPr>
              <a: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Electrons move → actual particles moving</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Holes move → empty spaces shifting</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Both contribute to </a:t>
            </a:r>
            <a:r>
              <a:rPr sz="2000" b="0" i="0" u="none">
                <a:solidFill>
                  <a:srgbClr val="000000"/>
                </a:solidFill>
                <a:latin typeface="Times New Roman"/>
                <a:ea typeface="Times New Roman"/>
                <a:cs typeface="Times New Roman"/>
              </a:rPr>
              <a:t>current</a:t>
            </a:r>
            <a:endParaRPr sz="2000" b="0">
              <a:latin typeface="Times New Roman"/>
              <a:cs typeface="Times New Roman"/>
            </a:endParaRPr>
          </a:p>
          <a:p>
            <a:pPr>
              <a:defRPr/>
            </a:pP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A </a:t>
            </a:r>
            <a:r>
              <a:rPr sz="2000" b="0" i="0" u="none">
                <a:solidFill>
                  <a:srgbClr val="000000"/>
                </a:solidFill>
                <a:latin typeface="Times New Roman"/>
                <a:ea typeface="Times New Roman"/>
                <a:cs typeface="Times New Roman"/>
              </a:rPr>
              <a:t>semiconductor</a:t>
            </a:r>
            <a:r>
              <a:rPr sz="2000" b="0" i="0" u="none">
                <a:solidFill>
                  <a:srgbClr val="000000"/>
                </a:solidFill>
                <a:latin typeface="Times New Roman"/>
                <a:ea typeface="Times New Roman"/>
                <a:cs typeface="Times New Roman"/>
              </a:rPr>
              <a:t> is a material where</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Current does </a:t>
            </a:r>
            <a:r>
              <a:rPr sz="2000" b="0" i="0" u="none">
                <a:solidFill>
                  <a:srgbClr val="000000"/>
                </a:solidFill>
                <a:latin typeface="Times New Roman"/>
                <a:ea typeface="Times New Roman"/>
                <a:cs typeface="Times New Roman"/>
              </a:rPr>
              <a:t>not flow easily</a:t>
            </a:r>
            <a:r>
              <a:rPr sz="2000" b="0" i="0" u="none">
                <a:solidFill>
                  <a:srgbClr val="000000"/>
                </a:solidFill>
                <a:latin typeface="Times New Roman"/>
                <a:ea typeface="Times New Roman"/>
                <a:cs typeface="Times New Roman"/>
              </a:rPr>
              <a:t> (like metal) </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But can flow when </a:t>
            </a:r>
            <a:r>
              <a:rPr sz="2000" b="0" i="0" u="none">
                <a:solidFill>
                  <a:srgbClr val="000000"/>
                </a:solidFill>
                <a:latin typeface="Times New Roman"/>
                <a:ea typeface="Times New Roman"/>
                <a:cs typeface="Times New Roman"/>
              </a:rPr>
              <a:t>energy is given</a:t>
            </a:r>
            <a:r>
              <a:rPr lang="en-IN" sz="2000" b="0">
                <a:latin typeface="Times New Roman"/>
                <a:ea typeface="Times New Roman"/>
                <a:cs typeface="Times New Roman"/>
              </a:rPr>
              <a: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Electrons are </a:t>
            </a:r>
            <a:r>
              <a:rPr sz="2000" b="0" i="0" u="none">
                <a:solidFill>
                  <a:srgbClr val="000000"/>
                </a:solidFill>
                <a:latin typeface="Times New Roman"/>
                <a:ea typeface="Times New Roman"/>
                <a:cs typeface="Times New Roman"/>
              </a:rPr>
              <a:t>tightly bound</a:t>
            </a:r>
            <a:r>
              <a:rPr sz="2000" b="0" i="0" u="none">
                <a:solidFill>
                  <a:srgbClr val="000000"/>
                </a:solidFill>
                <a:latin typeface="Times New Roman"/>
                <a:ea typeface="Times New Roman"/>
                <a:cs typeface="Times New Roman"/>
              </a:rPr>
              <a:t> in bonds</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When energy (heat/light) is given: </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Electrons become free</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Holes are created</a:t>
            </a:r>
            <a:endParaRPr sz="2000" b="0">
              <a:latin typeface="Times New Roman"/>
              <a:cs typeface="Times New Roman"/>
            </a:endParaRPr>
          </a:p>
        </p:txBody>
      </p:sp>
      <p:pic>
        <p:nvPicPr>
          <p:cNvPr id="505426429" name=""/>
          <p:cNvPicPr>
            <a:picLocks noChangeAspect="1"/>
          </p:cNvPicPr>
          <p:nvPr/>
        </p:nvPicPr>
        <p:blipFill rotWithShape="1">
          <a:blip r:embed="rId3"/>
          <a:stretch/>
        </p:blipFill>
        <p:spPr bwMode="auto">
          <a:xfrm flipH="0" flipV="0">
            <a:off x="9155662" y="149743"/>
            <a:ext cx="2978112" cy="277086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1212533" name="Title 1"/>
          <p:cNvSpPr>
            <a:spLocks noGrp="1"/>
          </p:cNvSpPr>
          <p:nvPr>
            <p:ph type="title"/>
          </p:nvPr>
        </p:nvSpPr>
        <p:spPr bwMode="auto"/>
        <p:txBody>
          <a:bodyPr/>
          <a:lstStyle/>
          <a:p>
            <a:pPr>
              <a:defRPr/>
            </a:pPr>
            <a:endParaRPr/>
          </a:p>
        </p:txBody>
      </p:sp>
      <p:sp>
        <p:nvSpPr>
          <p:cNvPr id="1714087916" name="Content Placeholder 2"/>
          <p:cNvSpPr>
            <a:spLocks noGrp="1"/>
          </p:cNvSpPr>
          <p:nvPr>
            <p:ph idx="1"/>
          </p:nvPr>
        </p:nvSpPr>
        <p:spPr bwMode="auto"/>
        <p:txBody>
          <a:bodyPr/>
          <a:lstStyle/>
          <a:p>
            <a:pPr>
              <a:defRPr/>
            </a:pPr>
            <a:endParaRPr/>
          </a:p>
        </p:txBody>
      </p:sp>
      <p:pic>
        <p:nvPicPr>
          <p:cNvPr id="993367956" name=""/>
          <p:cNvPicPr>
            <a:picLocks noChangeAspect="1"/>
          </p:cNvPicPr>
          <p:nvPr/>
        </p:nvPicPr>
        <p:blipFill rotWithShape="1">
          <a:blip r:embed="rId3"/>
          <a:stretch/>
        </p:blipFill>
        <p:spPr bwMode="auto">
          <a:xfrm flipH="0" flipV="0">
            <a:off x="2336632" y="1066799"/>
            <a:ext cx="7503367" cy="55723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9042749" name="Title 1"/>
          <p:cNvSpPr>
            <a:spLocks noGrp="1"/>
          </p:cNvSpPr>
          <p:nvPr>
            <p:ph type="title"/>
          </p:nvPr>
        </p:nvSpPr>
        <p:spPr bwMode="auto"/>
        <p:txBody>
          <a:bodyPr/>
          <a:lstStyle/>
          <a:p>
            <a:pPr>
              <a:defRPr/>
            </a:pPr>
            <a:endParaRPr/>
          </a:p>
        </p:txBody>
      </p:sp>
      <p:sp>
        <p:nvSpPr>
          <p:cNvPr id="1886101359" name="Content Placeholder 2"/>
          <p:cNvSpPr>
            <a:spLocks noGrp="1"/>
          </p:cNvSpPr>
          <p:nvPr>
            <p:ph idx="1"/>
          </p:nvPr>
        </p:nvSpPr>
        <p:spPr bwMode="auto">
          <a:xfrm flipH="0" flipV="0">
            <a:off x="838198" y="418775"/>
            <a:ext cx="10515600" cy="5758187"/>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defRPr/>
            </a:pPr>
            <a:r>
              <a:rPr sz="2000" b="0" i="0" u="none">
                <a:solidFill>
                  <a:srgbClr val="000000"/>
                </a:solidFill>
                <a:latin typeface="Times New Roman"/>
                <a:ea typeface="Times New Roman"/>
                <a:cs typeface="Times New Roman"/>
              </a:rPr>
              <a:t>What happens when P and N join?</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N side → many </a:t>
            </a:r>
            <a:r>
              <a:rPr sz="2000" b="0" i="0" u="none">
                <a:solidFill>
                  <a:srgbClr val="000000"/>
                </a:solidFill>
                <a:latin typeface="Times New Roman"/>
                <a:ea typeface="Times New Roman"/>
                <a:cs typeface="Times New Roman"/>
              </a:rPr>
              <a:t>electrons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P side → many </a:t>
            </a:r>
            <a:r>
              <a:rPr sz="2000" b="0" i="0" u="none">
                <a:solidFill>
                  <a:srgbClr val="000000"/>
                </a:solidFill>
                <a:latin typeface="Times New Roman"/>
                <a:ea typeface="Times New Roman"/>
                <a:cs typeface="Times New Roman"/>
              </a:rPr>
              <a:t>holes</a:t>
            </a:r>
            <a:endParaRPr sz="2000" b="0" i="0" u="none">
              <a:solidFill>
                <a:srgbClr val="000000"/>
              </a:solidFill>
              <a:latin typeface="Times New Roman"/>
              <a:cs typeface="Times New Roman"/>
            </a:endParaRPr>
          </a:p>
          <a:p>
            <a:pPr>
              <a:defRPr/>
            </a:pPr>
            <a:r>
              <a:rPr lang="en-IN" sz="2000" b="0" i="0" u="none">
                <a:solidFill>
                  <a:srgbClr val="000000"/>
                </a:solidFill>
                <a:latin typeface="Times New Roman"/>
                <a:ea typeface="Times New Roman"/>
                <a:cs typeface="Times New Roman"/>
              </a:rPr>
              <a:t>so</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Electrons move to P side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Holes move to N side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They meet and </a:t>
            </a:r>
            <a:r>
              <a:rPr sz="2000" b="0" i="0" u="none">
                <a:solidFill>
                  <a:srgbClr val="000000"/>
                </a:solidFill>
                <a:latin typeface="Times New Roman"/>
                <a:ea typeface="Times New Roman"/>
                <a:cs typeface="Times New Roman"/>
              </a:rPr>
              <a:t>recombine</a:t>
            </a:r>
            <a:r>
              <a:rPr lang="en-IN"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So near the junction: </a:t>
            </a:r>
            <a:r>
              <a:rPr sz="2000" b="0" i="0" u="none">
                <a:solidFill>
                  <a:srgbClr val="000000"/>
                </a:solidFill>
                <a:latin typeface="Times New Roman"/>
                <a:ea typeface="Times New Roman"/>
                <a:cs typeface="Times New Roman"/>
              </a:rPr>
              <a:t>No free electrons</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No free holes</a:t>
            </a:r>
            <a:r>
              <a:rPr lang="en-IN" sz="2000" b="0">
                <a:latin typeface="Times New Roman"/>
                <a:ea typeface="Times New Roman"/>
                <a:cs typeface="Times New Roman"/>
              </a:rPr>
              <a:t>. </a:t>
            </a:r>
            <a:r>
              <a:rPr sz="2000" b="0" i="0" u="none">
                <a:solidFill>
                  <a:srgbClr val="000000"/>
                </a:solidFill>
                <a:latin typeface="Times New Roman"/>
                <a:ea typeface="Times New Roman"/>
                <a:cs typeface="Times New Roman"/>
              </a:rPr>
              <a:t>This creates:</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Depletion Region</a:t>
            </a:r>
            <a:endParaRPr sz="2000" b="0">
              <a:latin typeface="Times New Roman"/>
              <a:cs typeface="Times New Roman"/>
            </a:endParaRPr>
          </a:p>
          <a:p>
            <a:pPr>
              <a:defRPr/>
            </a:pPr>
            <a:r>
              <a:rPr lang="en-IN" sz="2000" b="0">
                <a:latin typeface="Times New Roman"/>
                <a:ea typeface="Times New Roman"/>
                <a:cs typeface="Times New Roman"/>
              </a:rPr>
              <a:t>In depletion region </a:t>
            </a:r>
            <a:r>
              <a:rPr sz="2000" b="0" i="0" u="none">
                <a:solidFill>
                  <a:srgbClr val="000000"/>
                </a:solidFill>
                <a:latin typeface="Times New Roman"/>
                <a:ea typeface="Times New Roman"/>
                <a:cs typeface="Times New Roman"/>
              </a:rPr>
              <a:t>On one side → </a:t>
            </a:r>
            <a:r>
              <a:rPr sz="2000" b="0" i="0" u="none">
                <a:solidFill>
                  <a:srgbClr val="000000"/>
                </a:solidFill>
                <a:latin typeface="Times New Roman"/>
                <a:ea typeface="Times New Roman"/>
                <a:cs typeface="Times New Roman"/>
              </a:rPr>
              <a:t>positive fixed ions (from N-side donors)</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 On the other side → </a:t>
            </a:r>
            <a:r>
              <a:rPr sz="2000" b="0" i="0" u="none">
                <a:solidFill>
                  <a:srgbClr val="000000"/>
                </a:solidFill>
                <a:latin typeface="Times New Roman"/>
                <a:ea typeface="Times New Roman"/>
                <a:cs typeface="Times New Roman"/>
              </a:rPr>
              <a:t>negative fixed ions (from P-side acceptors)</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Positive charges and negative charges are </a:t>
            </a:r>
            <a:r>
              <a:rPr sz="2000" b="0" i="0" u="none">
                <a:solidFill>
                  <a:srgbClr val="000000"/>
                </a:solidFill>
                <a:latin typeface="Times New Roman"/>
                <a:ea typeface="Times New Roman"/>
                <a:cs typeface="Times New Roman"/>
              </a:rPr>
              <a:t>separated</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This creates a </a:t>
            </a:r>
            <a:r>
              <a:rPr sz="2000" b="0" i="0" u="none">
                <a:solidFill>
                  <a:srgbClr val="000000"/>
                </a:solidFill>
                <a:latin typeface="Times New Roman"/>
                <a:ea typeface="Times New Roman"/>
                <a:cs typeface="Times New Roman"/>
              </a:rPr>
              <a:t>potential difference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Reverse Bias</a:t>
            </a:r>
            <a:r>
              <a:rPr lang="en-IN" sz="2000" b="0">
                <a:latin typeface="Times New Roman"/>
                <a:ea typeface="Times New Roman"/>
                <a:cs typeface="Times New Roman"/>
              </a:rPr>
              <a:t> means </a:t>
            </a:r>
            <a:r>
              <a:rPr sz="2000" b="0" i="0" u="none">
                <a:solidFill>
                  <a:srgbClr val="000000"/>
                </a:solidFill>
                <a:latin typeface="Times New Roman"/>
                <a:ea typeface="Times New Roman"/>
                <a:cs typeface="Times New Roman"/>
              </a:rPr>
              <a:t>P side </a:t>
            </a:r>
            <a:r>
              <a:rPr lang="en-IN" sz="2000" b="0" i="0" u="none">
                <a:solidFill>
                  <a:srgbClr val="000000"/>
                </a:solidFill>
                <a:latin typeface="Times New Roman"/>
                <a:ea typeface="Times New Roman"/>
                <a:cs typeface="Times New Roman"/>
              </a:rPr>
              <a:t> connected to </a:t>
            </a:r>
            <a:r>
              <a:rPr sz="2000" b="0" i="0" u="none">
                <a:solidFill>
                  <a:srgbClr val="000000"/>
                </a:solidFill>
                <a:latin typeface="Times New Roman"/>
                <a:ea typeface="Times New Roman"/>
                <a:cs typeface="Times New Roman"/>
              </a:rPr>
              <a:t>negative terminal</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N side </a:t>
            </a:r>
            <a:r>
              <a:rPr lang="en-IN" sz="2000" b="0" i="0" u="none">
                <a:solidFill>
                  <a:srgbClr val="000000"/>
                </a:solidFill>
                <a:latin typeface="Times New Roman"/>
                <a:ea typeface="Times New Roman"/>
                <a:cs typeface="Times New Roman"/>
              </a:rPr>
              <a:t>connected to </a:t>
            </a:r>
            <a:r>
              <a:rPr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positive terminal</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Electrons are pulled </a:t>
            </a:r>
            <a:r>
              <a:rPr sz="2000" b="0" i="0" u="none">
                <a:solidFill>
                  <a:srgbClr val="000000"/>
                </a:solidFill>
                <a:latin typeface="Times New Roman"/>
                <a:ea typeface="Times New Roman"/>
                <a:cs typeface="Times New Roman"/>
              </a:rPr>
              <a:t>away from junction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Holes are also pulled </a:t>
            </a:r>
            <a:r>
              <a:rPr sz="2000" b="0" i="0" u="none">
                <a:solidFill>
                  <a:srgbClr val="000000"/>
                </a:solidFill>
                <a:latin typeface="Times New Roman"/>
                <a:ea typeface="Times New Roman"/>
                <a:cs typeface="Times New Roman"/>
              </a:rPr>
              <a:t>away</a:t>
            </a:r>
            <a:r>
              <a:rPr lang="en-IN" sz="2000" b="0" i="0" u="none">
                <a:solidFill>
                  <a:srgbClr val="000000"/>
                </a:solidFill>
                <a:latin typeface="Times New Roman"/>
                <a:ea typeface="Times New Roman"/>
                <a:cs typeface="Times New Roman"/>
              </a:rPr>
              <a:t> so </a:t>
            </a:r>
            <a:r>
              <a:rPr sz="2000" b="0" i="0" u="none">
                <a:solidFill>
                  <a:srgbClr val="000000"/>
                </a:solidFill>
                <a:latin typeface="Times New Roman"/>
                <a:ea typeface="Times New Roman"/>
                <a:cs typeface="Times New Roman"/>
              </a:rPr>
              <a:t>Depletion region becomes </a:t>
            </a:r>
            <a:r>
              <a:rPr sz="2000" b="0" i="0" u="none">
                <a:solidFill>
                  <a:srgbClr val="000000"/>
                </a:solidFill>
                <a:latin typeface="Times New Roman"/>
                <a:ea typeface="Times New Roman"/>
                <a:cs typeface="Times New Roman"/>
              </a:rPr>
              <a:t>wider</a:t>
            </a:r>
            <a:r>
              <a:rPr lang="en-IN" sz="2000" b="0" i="0" u="none">
                <a:solidFill>
                  <a:srgbClr val="000000"/>
                </a:solidFill>
                <a:latin typeface="Times New Roman"/>
                <a:ea typeface="Times New Roman"/>
                <a:cs typeface="Times New Roman"/>
              </a:rPr>
              <a:t> as a result </a:t>
            </a:r>
            <a:r>
              <a:rPr sz="2000" b="0" i="0" u="none">
                <a:solidFill>
                  <a:srgbClr val="000000"/>
                </a:solidFill>
                <a:latin typeface="Times New Roman"/>
                <a:ea typeface="Times New Roman"/>
                <a:cs typeface="Times New Roman"/>
              </a:rPr>
              <a:t> Electric field becomes </a:t>
            </a:r>
            <a:r>
              <a:rPr sz="2000" b="0" i="0" u="none">
                <a:solidFill>
                  <a:srgbClr val="000000"/>
                </a:solidFill>
                <a:latin typeface="Times New Roman"/>
                <a:ea typeface="Times New Roman"/>
                <a:cs typeface="Times New Roman"/>
              </a:rPr>
              <a:t>stronger</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Ideally:</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No current should flow</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But practically:</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A very small current flows:</a:t>
            </a:r>
            <a:r>
              <a:rPr sz="2000" b="0" i="0" u="none">
                <a:solidFill>
                  <a:srgbClr val="000000"/>
                </a:solidFill>
                <a:latin typeface="Times New Roman"/>
                <a:ea typeface="Times New Roman"/>
                <a:cs typeface="Times New Roman"/>
              </a:rPr>
              <a:t>Reverse Saturation Current</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3675645"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Photodiode</a:t>
            </a:r>
            <a:endParaRPr sz="2000" b="1"/>
          </a:p>
        </p:txBody>
      </p:sp>
      <p:sp>
        <p:nvSpPr>
          <p:cNvPr id="1460642413"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A </a:t>
            </a:r>
            <a:r>
              <a:rPr sz="2000" b="0" i="0" u="none">
                <a:solidFill>
                  <a:srgbClr val="000000"/>
                </a:solidFill>
                <a:latin typeface="Times New Roman"/>
                <a:ea typeface="Times New Roman"/>
                <a:cs typeface="Times New Roman"/>
              </a:rPr>
              <a:t>photodiode</a:t>
            </a:r>
            <a:r>
              <a:rPr sz="2000" b="0" i="0" u="none">
                <a:solidFill>
                  <a:srgbClr val="000000"/>
                </a:solidFill>
                <a:latin typeface="Times New Roman"/>
                <a:ea typeface="Times New Roman"/>
                <a:cs typeface="Times New Roman"/>
              </a:rPr>
              <a:t> is a </a:t>
            </a:r>
            <a:r>
              <a:rPr sz="2000" b="0" i="0" u="none">
                <a:solidFill>
                  <a:srgbClr val="000000"/>
                </a:solidFill>
                <a:latin typeface="Times New Roman"/>
                <a:ea typeface="Times New Roman"/>
                <a:cs typeface="Times New Roman"/>
              </a:rPr>
              <a:t>light-sensitive semiconductor device</a:t>
            </a:r>
            <a:r>
              <a:rPr sz="2000" b="0" i="0" u="none">
                <a:solidFill>
                  <a:srgbClr val="000000"/>
                </a:solidFill>
                <a:latin typeface="Times New Roman"/>
                <a:ea typeface="Times New Roman"/>
                <a:cs typeface="Times New Roman"/>
              </a:rPr>
              <a:t> that converts </a:t>
            </a:r>
            <a:r>
              <a:rPr sz="2000" b="0" i="0" u="none">
                <a:solidFill>
                  <a:srgbClr val="000000"/>
                </a:solidFill>
                <a:latin typeface="Times New Roman"/>
                <a:ea typeface="Times New Roman"/>
                <a:cs typeface="Times New Roman"/>
              </a:rPr>
              <a:t>light into electrical current</a:t>
            </a:r>
            <a:r>
              <a:rPr sz="2000" b="0" i="0" u="none">
                <a:solidFill>
                  <a:srgbClr val="000000"/>
                </a:solidFill>
                <a:latin typeface="Times New Roman"/>
                <a:ea typeface="Times New Roman"/>
                <a:cs typeface="Times New Roman"/>
              </a:rPr>
              <a: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A photodiode is a </a:t>
            </a:r>
            <a:r>
              <a:rPr sz="2000" b="0" i="0" u="none">
                <a:solidFill>
                  <a:srgbClr val="000000"/>
                </a:solidFill>
                <a:latin typeface="Times New Roman"/>
                <a:ea typeface="Times New Roman"/>
                <a:cs typeface="Times New Roman"/>
              </a:rPr>
              <a:t>PN junction semiconductor device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It is always operated in </a:t>
            </a:r>
            <a:r>
              <a:rPr sz="2000" b="0" i="0" u="none">
                <a:solidFill>
                  <a:srgbClr val="000000"/>
                </a:solidFill>
                <a:latin typeface="Times New Roman"/>
                <a:ea typeface="Times New Roman"/>
                <a:cs typeface="Times New Roman"/>
              </a:rPr>
              <a:t>reverse bias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Reverse bias means:</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P-side → connected to negative</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N-side → connected to positive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When reverse bias is applied:</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Depletion Region Formation</a:t>
            </a:r>
            <a:r>
              <a:rPr lang="en-IN" sz="2000" b="0">
                <a:latin typeface="Times New Roman"/>
                <a:ea typeface="Times New Roman"/>
                <a:cs typeface="Times New Roman"/>
              </a:rPr>
              <a:t> happens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The junction region becomes </a:t>
            </a:r>
            <a:r>
              <a:rPr sz="2000" b="0" i="0" u="none">
                <a:solidFill>
                  <a:srgbClr val="000000"/>
                </a:solidFill>
                <a:latin typeface="Times New Roman"/>
                <a:ea typeface="Times New Roman"/>
                <a:cs typeface="Times New Roman"/>
              </a:rPr>
              <a:t>wide</a:t>
            </a:r>
            <a:r>
              <a:rPr lang="en-IN" sz="2000" b="0">
                <a:latin typeface="Times New Roman"/>
                <a:ea typeface="Times New Roman"/>
                <a:cs typeface="Times New Roman"/>
              </a:rPr>
              <a:t>. </a:t>
            </a:r>
            <a:r>
              <a:rPr sz="2000" b="0" i="0" u="none">
                <a:solidFill>
                  <a:srgbClr val="000000"/>
                </a:solidFill>
                <a:latin typeface="Times New Roman"/>
                <a:ea typeface="Times New Roman"/>
                <a:cs typeface="Times New Roman"/>
              </a:rPr>
              <a:t>No free charge carriers exist here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A strong </a:t>
            </a:r>
            <a:r>
              <a:rPr sz="2000" b="0" i="0" u="none">
                <a:solidFill>
                  <a:srgbClr val="000000"/>
                </a:solidFill>
                <a:latin typeface="Times New Roman"/>
                <a:ea typeface="Times New Roman"/>
                <a:cs typeface="Times New Roman"/>
              </a:rPr>
              <a:t>electric field</a:t>
            </a:r>
            <a:r>
              <a:rPr sz="2000" b="0" i="0" u="none">
                <a:solidFill>
                  <a:srgbClr val="000000"/>
                </a:solidFill>
                <a:latin typeface="Times New Roman"/>
                <a:ea typeface="Times New Roman"/>
                <a:cs typeface="Times New Roman"/>
              </a:rPr>
              <a:t> is created across the junction </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This electric field is the </a:t>
            </a:r>
            <a:r>
              <a:rPr sz="2000" b="0" i="1" u="none">
                <a:solidFill>
                  <a:srgbClr val="000000"/>
                </a:solidFill>
                <a:latin typeface="Times New Roman"/>
                <a:ea typeface="Times New Roman"/>
                <a:cs typeface="Times New Roman"/>
              </a:rPr>
              <a:t>key</a:t>
            </a:r>
            <a:r>
              <a:rPr sz="2000" b="0" i="0" u="none">
                <a:solidFill>
                  <a:srgbClr val="000000"/>
                </a:solidFill>
                <a:latin typeface="Times New Roman"/>
                <a:ea typeface="Times New Roman"/>
                <a:cs typeface="Times New Roman"/>
              </a:rPr>
              <a:t> to photodiode operation</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7805144" name="Title 1"/>
          <p:cNvSpPr>
            <a:spLocks noGrp="1"/>
          </p:cNvSpPr>
          <p:nvPr>
            <p:ph type="title"/>
          </p:nvPr>
        </p:nvSpPr>
        <p:spPr bwMode="auto"/>
        <p:txBody>
          <a:bodyPr/>
          <a:lstStyle/>
          <a:p>
            <a:pPr>
              <a:defRPr/>
            </a:pPr>
            <a:endParaRPr/>
          </a:p>
        </p:txBody>
      </p:sp>
      <p:sp>
        <p:nvSpPr>
          <p:cNvPr id="209959173" name="Content Placeholder 2"/>
          <p:cNvSpPr>
            <a:spLocks noGrp="1"/>
          </p:cNvSpPr>
          <p:nvPr>
            <p:ph idx="1"/>
          </p:nvPr>
        </p:nvSpPr>
        <p:spPr bwMode="auto"/>
        <p:txBody>
          <a:bodyPr/>
          <a:lstStyle/>
          <a:p>
            <a:pPr>
              <a:defRPr/>
            </a:pPr>
            <a:endParaRPr/>
          </a:p>
        </p:txBody>
      </p:sp>
      <p:pic>
        <p:nvPicPr>
          <p:cNvPr id="1930169992" name=""/>
          <p:cNvPicPr>
            <a:picLocks noChangeAspect="1"/>
          </p:cNvPicPr>
          <p:nvPr/>
        </p:nvPicPr>
        <p:blipFill rotWithShape="1">
          <a:blip r:embed="rId3"/>
          <a:stretch/>
        </p:blipFill>
        <p:spPr bwMode="auto">
          <a:xfrm>
            <a:off x="2760305" y="1399590"/>
            <a:ext cx="6324599" cy="45815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4471878" name="Title 1"/>
          <p:cNvSpPr>
            <a:spLocks noGrp="1"/>
          </p:cNvSpPr>
          <p:nvPr>
            <p:ph type="title"/>
          </p:nvPr>
        </p:nvSpPr>
        <p:spPr bwMode="auto"/>
        <p:txBody>
          <a:bodyPr/>
          <a:lstStyle/>
          <a:p>
            <a:pPr>
              <a:defRPr/>
            </a:pPr>
            <a:endParaRPr/>
          </a:p>
        </p:txBody>
      </p:sp>
      <p:sp>
        <p:nvSpPr>
          <p:cNvPr id="1298275762" name="Content Placeholder 2"/>
          <p:cNvSpPr>
            <a:spLocks noGrp="1"/>
          </p:cNvSpPr>
          <p:nvPr>
            <p:ph idx="1"/>
          </p:nvPr>
        </p:nvSpPr>
        <p:spPr bwMode="auto">
          <a:xfrm flipH="0" flipV="0">
            <a:off x="159489" y="535407"/>
            <a:ext cx="11760459" cy="6239846"/>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1" i="0" u="none">
                <a:solidFill>
                  <a:srgbClr val="000000"/>
                </a:solidFill>
                <a:latin typeface="Times New Roman"/>
                <a:ea typeface="Times New Roman"/>
                <a:cs typeface="Times New Roman"/>
              </a:rPr>
              <a:t>In Darkness (No Light)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No external photons → no extra carriers generated</a:t>
            </a:r>
            <a:r>
              <a:rPr lang="en-IN"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Only a very small current flows called:</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Dark current (reverse saturation current</a:t>
            </a:r>
            <a:r>
              <a:rPr lang="en-IN" sz="2000" b="0">
                <a:latin typeface="Times New Roman"/>
                <a:ea typeface="Times New Roman"/>
                <a:cs typeface="Times New Roman"/>
              </a:rPr>
              <a:t>) it is </a:t>
            </a:r>
            <a:r>
              <a:rPr lang="en-IN" sz="2000" b="0" i="0" u="none">
                <a:solidFill>
                  <a:srgbClr val="000000"/>
                </a:solidFill>
                <a:latin typeface="Times New Roman"/>
                <a:ea typeface="Times New Roman"/>
                <a:cs typeface="Times New Roman"/>
              </a:rPr>
              <a:t>d</a:t>
            </a:r>
            <a:r>
              <a:rPr sz="2000" b="0" i="0" u="none">
                <a:solidFill>
                  <a:srgbClr val="000000"/>
                </a:solidFill>
                <a:latin typeface="Times New Roman"/>
                <a:ea typeface="Times New Roman"/>
                <a:cs typeface="Times New Roman"/>
              </a:rPr>
              <a:t>ue to thermally generated electron-hole pairs</a:t>
            </a:r>
            <a:r>
              <a:rPr lang="en-IN" sz="2000" b="0" i="0" u="none">
                <a:solidFill>
                  <a:srgbClr val="000000"/>
                </a:solidFill>
                <a:latin typeface="Times New Roman"/>
                <a:ea typeface="Times New Roman"/>
                <a:cs typeface="Times New Roman"/>
              </a:rPr>
              <a:t>.</a:t>
            </a:r>
            <a:endParaRPr sz="2000" b="0">
              <a:latin typeface="Times New Roman"/>
              <a:cs typeface="Times New Roman"/>
            </a:endParaRPr>
          </a:p>
          <a:p>
            <a:pPr>
              <a:defRPr/>
            </a:pPr>
            <a:r>
              <a:rPr sz="2000" b="1" i="0" u="none">
                <a:solidFill>
                  <a:srgbClr val="000000"/>
                </a:solidFill>
                <a:latin typeface="Times New Roman"/>
                <a:ea typeface="Times New Roman"/>
                <a:cs typeface="Times New Roman"/>
              </a:rPr>
              <a:t>When Light Falls on Photodiode</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Step 1: Photon Absorption</a:t>
            </a:r>
            <a:endParaRPr sz="2000" b="0" u="sng">
              <a:latin typeface="Times New Roman"/>
              <a:cs typeface="Times New Roman"/>
            </a:endParaRPr>
          </a:p>
          <a:p>
            <a:pPr>
              <a:defRPr/>
            </a:pPr>
            <a:r>
              <a:rPr sz="2000" b="0" i="0" u="none">
                <a:solidFill>
                  <a:srgbClr val="000000"/>
                </a:solidFill>
                <a:latin typeface="Times New Roman"/>
                <a:ea typeface="Times New Roman"/>
                <a:cs typeface="Times New Roman"/>
              </a:rPr>
              <a:t>Light energy (photons) enters the depletion region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If photon energy is sufficient:</a:t>
            </a:r>
            <a:endParaRPr sz="2000" b="0">
              <a:latin typeface="Times New Roman"/>
              <a:cs typeface="Times New Roman"/>
            </a:endParaRPr>
          </a:p>
          <a:p>
            <a:pPr marL="0" indent="0">
              <a:buFont typeface="Arial"/>
              <a:buNone/>
              <a:defRPr/>
            </a:pPr>
            <a:r>
              <a:rPr lang="en-IN" sz="2000" b="0">
                <a:latin typeface="Times New Roman"/>
                <a:ea typeface="Times New Roman"/>
                <a:cs typeface="Times New Roman"/>
              </a:rPr>
              <a:t>                                           </a:t>
            </a:r>
            <a:r>
              <a:rPr sz="2000" b="0" i="0" u="none">
                <a:solidFill>
                  <a:srgbClr val="000000"/>
                </a:solidFill>
                <a:latin typeface="Times New Roman"/>
                <a:ea typeface="Times New Roman"/>
                <a:cs typeface="Times New Roman"/>
              </a:rPr>
              <a:t>h</a:t>
            </a:r>
            <a:r>
              <a:rPr sz="2000" b="0" i="0" u="none">
                <a:solidFill>
                  <a:srgbClr val="000000"/>
                </a:solidFill>
                <a:latin typeface="Times New Roman"/>
                <a:ea typeface="Times New Roman"/>
                <a:cs typeface="Times New Roman"/>
              </a:rPr>
              <a:t>ν</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E</a:t>
            </a:r>
            <a:r>
              <a:rPr sz="2000" b="0" i="0" u="none">
                <a:solidFill>
                  <a:srgbClr val="000000"/>
                </a:solidFill>
                <a:latin typeface="Times New Roman"/>
                <a:ea typeface="Times New Roman"/>
                <a:cs typeface="Times New Roman"/>
              </a:rPr>
              <a:t>g</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(where </a:t>
            </a:r>
            <a:r>
              <a:rPr sz="2000" b="0" i="0" u="none">
                <a:solidFill>
                  <a:srgbClr val="000000"/>
                </a:solidFill>
                <a:latin typeface="Times New Roman"/>
                <a:ea typeface="Times New Roman"/>
                <a:cs typeface="Times New Roman"/>
              </a:rPr>
              <a:t>E</a:t>
            </a:r>
            <a:r>
              <a:rPr sz="2000" b="0" i="0" u="none">
                <a:solidFill>
                  <a:srgbClr val="000000"/>
                </a:solidFill>
                <a:latin typeface="Times New Roman"/>
                <a:ea typeface="Times New Roman"/>
                <a:cs typeface="Times New Roman"/>
              </a:rPr>
              <a:t>g</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 = band gap energy)</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Then: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An </a:t>
            </a:r>
            <a:r>
              <a:rPr sz="2000" b="0" i="0" u="none">
                <a:solidFill>
                  <a:srgbClr val="000000"/>
                </a:solidFill>
                <a:latin typeface="Times New Roman"/>
                <a:ea typeface="Times New Roman"/>
                <a:cs typeface="Times New Roman"/>
              </a:rPr>
              <a:t>electron-hole pair (EHP)</a:t>
            </a:r>
            <a:r>
              <a:rPr sz="2000" b="0" i="0" u="none">
                <a:solidFill>
                  <a:srgbClr val="000000"/>
                </a:solidFill>
                <a:latin typeface="Times New Roman"/>
                <a:ea typeface="Times New Roman"/>
                <a:cs typeface="Times New Roman"/>
              </a:rPr>
              <a:t> is generated </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Step 2: Separation of Charges</a:t>
            </a:r>
            <a:endParaRPr sz="2000" b="0" u="sng">
              <a:latin typeface="Times New Roman"/>
              <a:cs typeface="Times New Roman"/>
            </a:endParaRPr>
          </a:p>
          <a:p>
            <a:pPr>
              <a:defRPr/>
            </a:pPr>
            <a:r>
              <a:rPr sz="2000" b="0" i="0" u="none">
                <a:solidFill>
                  <a:srgbClr val="000000"/>
                </a:solidFill>
                <a:latin typeface="Times New Roman"/>
                <a:ea typeface="Times New Roman"/>
                <a:cs typeface="Times New Roman"/>
              </a:rPr>
              <a:t>Because of the </a:t>
            </a:r>
            <a:r>
              <a:rPr sz="2000" b="0" i="0" u="none">
                <a:solidFill>
                  <a:srgbClr val="000000"/>
                </a:solidFill>
                <a:latin typeface="Times New Roman"/>
                <a:ea typeface="Times New Roman"/>
                <a:cs typeface="Times New Roman"/>
              </a:rPr>
              <a:t>electric field in depletion region</a:t>
            </a:r>
            <a:r>
              <a:rPr sz="2000" b="0" i="0" u="none">
                <a:solidFill>
                  <a:srgbClr val="000000"/>
                </a:solidFill>
                <a:latin typeface="Times New Roman"/>
                <a:ea typeface="Times New Roman"/>
                <a:cs typeface="Times New Roman"/>
              </a:rPr>
              <a:t>:</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Electron → pulled towards </a:t>
            </a:r>
            <a:r>
              <a:rPr sz="2000" b="0" i="0" u="none">
                <a:solidFill>
                  <a:srgbClr val="000000"/>
                </a:solidFill>
                <a:latin typeface="Times New Roman"/>
                <a:ea typeface="Times New Roman"/>
                <a:cs typeface="Times New Roman"/>
              </a:rPr>
              <a:t>N-side</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 Hole → pulled towards </a:t>
            </a:r>
            <a:r>
              <a:rPr sz="2000" b="0" i="0" u="none">
                <a:solidFill>
                  <a:srgbClr val="000000"/>
                </a:solidFill>
                <a:latin typeface="Times New Roman"/>
                <a:ea typeface="Times New Roman"/>
                <a:cs typeface="Times New Roman"/>
              </a:rPr>
              <a:t>P-side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This happens </a:t>
            </a:r>
            <a:r>
              <a:rPr sz="2000" b="0" i="0" u="none">
                <a:solidFill>
                  <a:srgbClr val="000000"/>
                </a:solidFill>
                <a:latin typeface="Times New Roman"/>
                <a:ea typeface="Times New Roman"/>
                <a:cs typeface="Times New Roman"/>
              </a:rPr>
              <a:t>very fast</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 No recombination occurs</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Step 3: Flow of Current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Movement of electrons and holes creates a current</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This current is called:</a:t>
            </a:r>
            <a:r>
              <a:rPr sz="2000" b="0" i="0" u="none">
                <a:solidFill>
                  <a:srgbClr val="000000"/>
                </a:solidFill>
                <a:latin typeface="Times New Roman"/>
                <a:ea typeface="Times New Roman"/>
                <a:cs typeface="Times New Roman"/>
              </a:rPr>
              <a:t>Photocurrent (Iₚ)</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5446206" name="Title 1"/>
          <p:cNvSpPr>
            <a:spLocks noGrp="1"/>
          </p:cNvSpPr>
          <p:nvPr>
            <p:ph type="title"/>
          </p:nvPr>
        </p:nvSpPr>
        <p:spPr bwMode="auto"/>
        <p:txBody>
          <a:bodyPr/>
          <a:lstStyle/>
          <a:p>
            <a:pPr>
              <a:defRPr/>
            </a:pPr>
            <a:endParaRPr/>
          </a:p>
        </p:txBody>
      </p:sp>
      <p:sp>
        <p:nvSpPr>
          <p:cNvPr id="1998754849" name="Content Placeholder 2"/>
          <p:cNvSpPr>
            <a:spLocks noGrp="1"/>
          </p:cNvSpPr>
          <p:nvPr>
            <p:ph idx="1"/>
          </p:nvPr>
        </p:nvSpPr>
        <p:spPr bwMode="auto"/>
        <p:txBody>
          <a:bodyPr/>
          <a:lstStyle/>
          <a:p>
            <a:pPr marL="0" indent="0">
              <a:buFont typeface="Arial"/>
              <a:buNone/>
              <a:defRPr/>
            </a:pPr>
            <a:r>
              <a:rPr lang="en-IN" sz="2000">
                <a:latin typeface="Times New Roman"/>
                <a:ea typeface="Times New Roman"/>
                <a:cs typeface="Times New Roman"/>
              </a:rPr>
              <a:t>           </a:t>
            </a:r>
            <a:r>
              <a:rPr sz="2000" b="0" i="0" u="none">
                <a:solidFill>
                  <a:srgbClr val="000000"/>
                </a:solidFill>
                <a:latin typeface="Times New Roman"/>
                <a:ea typeface="Times New Roman"/>
                <a:cs typeface="Times New Roman"/>
              </a:rPr>
              <a:t>Total current in photodiode:</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d</a:t>
            </a:r>
            <a:r>
              <a:rPr sz="2000" b="0" i="0" u="none">
                <a:solidFill>
                  <a:srgbClr val="000000"/>
                </a:solidFill>
                <a:latin typeface="Times New Roman"/>
                <a:ea typeface="Times New Roman"/>
                <a:cs typeface="Times New Roman"/>
              </a:rPr>
              <a:t>a</a:t>
            </a:r>
            <a:r>
              <a:rPr sz="2000" b="0" i="0" u="none">
                <a:solidFill>
                  <a:srgbClr val="000000"/>
                </a:solidFill>
                <a:latin typeface="Times New Roman"/>
                <a:ea typeface="Times New Roman"/>
                <a:cs typeface="Times New Roman"/>
              </a:rPr>
              <a:t>r</a:t>
            </a:r>
            <a:r>
              <a:rPr sz="2000" b="0" i="0" u="none">
                <a:solidFill>
                  <a:srgbClr val="000000"/>
                </a:solidFill>
                <a:latin typeface="Times New Roman"/>
                <a:ea typeface="Times New Roman"/>
                <a:cs typeface="Times New Roman"/>
              </a:rPr>
              <a:t>k</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p</a:t>
            </a:r>
            <a:r>
              <a:rPr sz="2000" b="0" i="0" u="none">
                <a:solidFill>
                  <a:srgbClr val="000000"/>
                </a:solidFill>
                <a:latin typeface="Times New Roman"/>
                <a:ea typeface="Times New Roman"/>
                <a:cs typeface="Times New Roman"/>
              </a:rPr>
              <a:t>h</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t</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 </a:t>
            </a:r>
            <a:endParaRPr sz="2000">
              <a:latin typeface="Times New Roman"/>
              <a:cs typeface="Times New Roman"/>
            </a:endParaRPr>
          </a:p>
          <a:p>
            <a:pPr>
              <a:defRPr/>
            </a:pPr>
            <a:r>
              <a:rPr sz="2000" b="0" i="0" u="none">
                <a:solidFill>
                  <a:srgbClr val="000000"/>
                </a:solidFill>
                <a:latin typeface="Times New Roman"/>
                <a:ea typeface="Times New Roman"/>
                <a:cs typeface="Times New Roman"/>
              </a:rPr>
              <a:t>Where:</a:t>
            </a:r>
            <a:endParaRPr sz="2000">
              <a:latin typeface="Times New Roman"/>
              <a:cs typeface="Times New Roman"/>
            </a:endParaRPr>
          </a:p>
          <a:p>
            <a:pPr marL="0" indent="0">
              <a:buFont typeface="Arial"/>
              <a:buNone/>
              <a:defRPr/>
            </a:pP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d</a:t>
            </a:r>
            <a:r>
              <a:rPr sz="2000" b="0" i="0" u="none">
                <a:solidFill>
                  <a:srgbClr val="000000"/>
                </a:solidFill>
                <a:latin typeface="Times New Roman"/>
                <a:ea typeface="Times New Roman"/>
                <a:cs typeface="Times New Roman"/>
              </a:rPr>
              <a:t>a</a:t>
            </a:r>
            <a:r>
              <a:rPr sz="2000" b="0" i="0" u="none">
                <a:solidFill>
                  <a:srgbClr val="000000"/>
                </a:solidFill>
                <a:latin typeface="Times New Roman"/>
                <a:ea typeface="Times New Roman"/>
                <a:cs typeface="Times New Roman"/>
              </a:rPr>
              <a:t>r</a:t>
            </a:r>
            <a:r>
              <a:rPr sz="2000" b="0" i="0" u="none">
                <a:solidFill>
                  <a:srgbClr val="000000"/>
                </a:solidFill>
                <a:latin typeface="Times New Roman"/>
                <a:ea typeface="Times New Roman"/>
                <a:cs typeface="Times New Roman"/>
              </a:rPr>
              <a:t>k</a:t>
            </a:r>
            <a:r>
              <a:rPr sz="2000" b="0" i="0" u="none">
                <a:solidFill>
                  <a:srgbClr val="000000"/>
                </a:solidFill>
                <a:latin typeface="Times New Roman"/>
                <a:ea typeface="Times New Roman"/>
                <a:cs typeface="Times New Roman"/>
              </a:rPr>
              <a:t> = dark current (very small) </a:t>
            </a:r>
            <a:endParaRPr sz="2000">
              <a:latin typeface="Times New Roman"/>
              <a:cs typeface="Times New Roman"/>
            </a:endParaRPr>
          </a:p>
          <a:p>
            <a:pPr marL="0" indent="0">
              <a:buFont typeface="Arial"/>
              <a:buNone/>
              <a:defRPr/>
            </a:pPr>
            <a:r>
              <a:rPr lang="en-IN" sz="2000">
                <a:latin typeface="Times New Roman"/>
                <a:ea typeface="Times New Roman"/>
                <a:cs typeface="Times New Roman"/>
              </a:rPr>
              <a:t>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p</a:t>
            </a:r>
            <a:r>
              <a:rPr sz="2000" b="0" i="0" u="none">
                <a:solidFill>
                  <a:srgbClr val="000000"/>
                </a:solidFill>
                <a:latin typeface="Times New Roman"/>
                <a:ea typeface="Times New Roman"/>
                <a:cs typeface="Times New Roman"/>
              </a:rPr>
              <a:t>h</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t</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_</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 = photocurrent </a:t>
            </a:r>
            <a:endParaRPr sz="2000">
              <a:latin typeface="Times New Roman"/>
              <a:cs typeface="Times New Roman"/>
            </a:endParaRPr>
          </a:p>
          <a:p>
            <a:pPr>
              <a:defRPr/>
            </a:pPr>
            <a:r>
              <a:rPr sz="2000" b="0" i="0" u="none">
                <a:solidFill>
                  <a:srgbClr val="000000"/>
                </a:solidFill>
                <a:latin typeface="Times New Roman"/>
                <a:ea typeface="Times New Roman"/>
                <a:cs typeface="Times New Roman"/>
              </a:rPr>
              <a:t>Since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d</a:t>
            </a:r>
            <a:r>
              <a:rPr sz="2000" b="0" i="0" u="none">
                <a:solidFill>
                  <a:srgbClr val="000000"/>
                </a:solidFill>
                <a:latin typeface="Times New Roman"/>
                <a:ea typeface="Times New Roman"/>
                <a:cs typeface="Times New Roman"/>
              </a:rPr>
              <a:t>a</a:t>
            </a:r>
            <a:r>
              <a:rPr sz="2000" b="0" i="0" u="none">
                <a:solidFill>
                  <a:srgbClr val="000000"/>
                </a:solidFill>
                <a:latin typeface="Times New Roman"/>
                <a:ea typeface="Times New Roman"/>
                <a:cs typeface="Times New Roman"/>
              </a:rPr>
              <a:t>r</a:t>
            </a:r>
            <a:r>
              <a:rPr sz="2000" b="0" i="0" u="none">
                <a:solidFill>
                  <a:srgbClr val="000000"/>
                </a:solidFill>
                <a:latin typeface="Times New Roman"/>
                <a:ea typeface="Times New Roman"/>
                <a:cs typeface="Times New Roman"/>
              </a:rPr>
              <a:t>k</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 is small:</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p</a:t>
            </a:r>
            <a:r>
              <a:rPr sz="2000" b="0" i="0" u="none">
                <a:solidFill>
                  <a:srgbClr val="000000"/>
                </a:solidFill>
                <a:latin typeface="Times New Roman"/>
                <a:ea typeface="Times New Roman"/>
                <a:cs typeface="Times New Roman"/>
              </a:rPr>
              <a:t>h</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t</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a:t>
            </a:r>
            <a:endParaRPr sz="2000">
              <a:latin typeface="Times New Roman"/>
              <a:cs typeface="Times New Roman"/>
            </a:endParaRPr>
          </a:p>
          <a:p>
            <a:pPr>
              <a:defRPr/>
            </a:pPr>
            <a:r>
              <a:rPr sz="2000" b="0" i="0" u="none">
                <a:solidFill>
                  <a:srgbClr val="000000"/>
                </a:solidFill>
                <a:latin typeface="Times New Roman"/>
                <a:ea typeface="Times New Roman"/>
                <a:cs typeface="Times New Roman"/>
              </a:rPr>
              <a:t>More light → more photons → more EHP → more current</a:t>
            </a:r>
            <a:endParaRPr sz="2000" b="0" i="0" u="none">
              <a:solidFill>
                <a:srgbClr val="000000"/>
              </a:solidFill>
              <a:latin typeface="Times New Roman"/>
              <a:cs typeface="Times New Roman"/>
            </a:endParaRPr>
          </a:p>
          <a:p>
            <a:pPr>
              <a:defRPr/>
            </a:pPr>
            <a:r>
              <a:rPr sz="2000" b="0" i="0" u="none">
                <a:solidFill>
                  <a:srgbClr val="000000"/>
                </a:solidFill>
                <a:latin typeface="Times New Roman"/>
                <a:ea typeface="Times New Roman"/>
                <a:cs typeface="Times New Roman"/>
              </a:rPr>
              <a:t> Less light → less current</a:t>
            </a:r>
            <a:endParaRPr sz="20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0517066" name="Title 1"/>
          <p:cNvSpPr>
            <a:spLocks noGrp="1"/>
          </p:cNvSpPr>
          <p:nvPr>
            <p:ph type="title"/>
          </p:nvPr>
        </p:nvSpPr>
        <p:spPr bwMode="auto"/>
        <p:txBody>
          <a:bodyPr/>
          <a:lstStyle/>
          <a:p>
            <a:pPr>
              <a:defRPr/>
            </a:pPr>
            <a:endParaRPr/>
          </a:p>
        </p:txBody>
      </p:sp>
      <p:sp>
        <p:nvSpPr>
          <p:cNvPr id="1131693752" name="Content Placeholder 2"/>
          <p:cNvSpPr>
            <a:spLocks noGrp="1"/>
          </p:cNvSpPr>
          <p:nvPr>
            <p:ph idx="1"/>
          </p:nvPr>
        </p:nvSpPr>
        <p:spPr bwMode="auto"/>
        <p:txBody>
          <a:bodyPr/>
          <a:lstStyle/>
          <a:p>
            <a:pPr marL="0" indent="0">
              <a:buFont typeface="Arial"/>
              <a:buNone/>
              <a:defRPr/>
            </a:pPr>
            <a:r>
              <a:rPr sz="2000" b="0">
                <a:solidFill>
                  <a:srgbClr val="000000"/>
                </a:solidFill>
                <a:latin typeface="Times New Roman"/>
                <a:ea typeface="Times New Roman"/>
                <a:cs typeface="Times New Roman"/>
              </a:rPr>
              <a:t>photoresistor </a:t>
            </a:r>
            <a:r>
              <a:rPr lang="en-IN" sz="2000" b="0">
                <a:latin typeface="Times New Roman"/>
                <a:ea typeface="Times New Roman"/>
                <a:cs typeface="Times New Roman"/>
              </a:rPr>
              <a:t>= </a:t>
            </a:r>
            <a:r>
              <a:rPr sz="2000" b="0" i="0" u="none">
                <a:solidFill>
                  <a:srgbClr val="000000"/>
                </a:solidFill>
                <a:latin typeface="Times New Roman"/>
                <a:ea typeface="Times New Roman"/>
                <a:cs typeface="Times New Roman"/>
              </a:rPr>
              <a:t>Light Dependent Resistor (LDR)</a:t>
            </a:r>
            <a:r>
              <a:rPr lang="en-IN" sz="2000" b="0">
                <a:latin typeface="Times New Roman"/>
                <a:ea typeface="Times New Roman"/>
                <a:cs typeface="Times New Roman"/>
              </a:rPr>
              <a:t>(module 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4784542" name="Title 1"/>
          <p:cNvSpPr>
            <a:spLocks noGrp="1"/>
          </p:cNvSpPr>
          <p:nvPr>
            <p:ph type="title"/>
          </p:nvPr>
        </p:nvSpPr>
        <p:spPr bwMode="auto"/>
        <p:txBody>
          <a:bodyPr/>
          <a:lstStyle/>
          <a:p>
            <a:pPr>
              <a:defRPr/>
            </a:pPr>
            <a:endParaRPr/>
          </a:p>
        </p:txBody>
      </p:sp>
      <p:sp>
        <p:nvSpPr>
          <p:cNvPr id="372463179" name="Content Placeholder 2"/>
          <p:cNvSpPr>
            <a:spLocks noGrp="1"/>
          </p:cNvSpPr>
          <p:nvPr>
            <p:ph idx="1"/>
          </p:nvPr>
        </p:nvSpPr>
        <p:spPr bwMode="auto"/>
        <p:txBody>
          <a:bodyPr/>
          <a:lstStyle/>
          <a:p>
            <a:pPr>
              <a:defRPr/>
            </a:pPr>
            <a:endParaRPr/>
          </a:p>
        </p:txBody>
      </p:sp>
      <p:graphicFrame>
        <p:nvGraphicFramePr>
          <p:cNvPr id="108192304" name=""/>
          <p:cNvGraphicFramePr>
            <a:graphicFrameLocks xmlns:a="http://schemas.openxmlformats.org/drawingml/2006/main"/>
          </p:cNvGraphicFramePr>
          <p:nvPr/>
        </p:nvGraphicFramePr>
        <p:xfrm>
          <a:off x="2031999" y="1371600"/>
          <a:ext cx="8127999" cy="1076870"/>
        </p:xfrm>
        <a:graphic>
          <a:graphicData uri="http://schemas.openxmlformats.org/drawingml/2006/table">
            <a:tbl>
              <a:tblPr firstRow="1" firstCol="0" lastRow="0" lastCol="0" bandRow="1" bandCol="0">
                <a:tableStyleId>{5C22544A-7EE6-4342-B048-85BDC9FD1C3A}</a:tableStyleId>
              </a:tblPr>
              <a:tblGrid>
                <a:gridCol w="2709333"/>
                <a:gridCol w="2709333"/>
                <a:gridCol w="2709333"/>
              </a:tblGrid>
              <a:tr h="365760">
                <a:tc>
                  <a:txBody>
                    <a:bodyPr/>
                    <a:p>
                      <a:pPr>
                        <a:defRPr/>
                      </a:pPr>
                      <a:r>
                        <a:rPr sz="2000" b="1" i="0" u="none">
                          <a:solidFill>
                            <a:srgbClr val="000000"/>
                          </a:solidFill>
                          <a:latin typeface="Times New Roman"/>
                          <a:ea typeface="Times New Roman"/>
                          <a:cs typeface="Times New Roman"/>
                        </a:rPr>
                        <a:t>Parameter</a:t>
                      </a:r>
                      <a:endParaRPr sz="2000">
                        <a:latin typeface="Times New Roman"/>
                        <a:cs typeface="Times New Roman"/>
                      </a:endParaRPr>
                    </a:p>
                  </a:txBody>
                  <a:tcPr/>
                </a:tc>
                <a:tc>
                  <a:txBody>
                    <a:bodyPr/>
                    <a:p>
                      <a:pPr>
                        <a:defRPr/>
                      </a:pPr>
                      <a:r>
                        <a:rPr sz="2000" b="1" i="0" u="none">
                          <a:solidFill>
                            <a:srgbClr val="000000"/>
                          </a:solidFill>
                          <a:latin typeface="Times New Roman"/>
                          <a:ea typeface="Times New Roman"/>
                          <a:cs typeface="Times New Roman"/>
                        </a:rPr>
                        <a:t>Photoresistor (LDR)</a:t>
                      </a:r>
                      <a:endParaRPr sz="2000">
                        <a:latin typeface="Times New Roman"/>
                        <a:cs typeface="Times New Roman"/>
                      </a:endParaRPr>
                    </a:p>
                  </a:txBody>
                  <a:tcPr/>
                </a:tc>
                <a:tc>
                  <a:txBody>
                    <a:bodyPr/>
                    <a:p>
                      <a:pPr>
                        <a:defRPr/>
                      </a:pPr>
                      <a:r>
                        <a:rPr sz="2000" b="1" i="0" u="none">
                          <a:solidFill>
                            <a:srgbClr val="000000"/>
                          </a:solidFill>
                          <a:latin typeface="Times New Roman"/>
                          <a:ea typeface="Times New Roman"/>
                          <a:cs typeface="Times New Roman"/>
                        </a:rPr>
                        <a:t>Photodiode</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Sensitivity</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High</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Moderate</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Response Time</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Very slow (ms to seconds)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Very fast (nanoseconds)</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Applications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automatic lightin</a:t>
                      </a:r>
                      <a:r>
                        <a:rPr lang="en-IN" sz="2000" b="0" i="0" u="none">
                          <a:solidFill>
                            <a:srgbClr val="000000"/>
                          </a:solidFill>
                          <a:latin typeface="Times New Roman"/>
                          <a:ea typeface="Times New Roman"/>
                          <a:cs typeface="Times New Roman"/>
                        </a:rPr>
                        <a:t>g </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Optical communication</a:t>
                      </a:r>
                      <a:endParaRPr sz="2000">
                        <a:latin typeface="Times New Roman"/>
                        <a:cs typeface="Times New Roman"/>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8807065"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Transistor</a:t>
            </a:r>
            <a:endParaRPr sz="2000" b="1"/>
          </a:p>
        </p:txBody>
      </p:sp>
      <p:sp>
        <p:nvSpPr>
          <p:cNvPr id="901788192" name="Content Placeholder 2"/>
          <p:cNvSpPr>
            <a:spLocks noGrp="1"/>
          </p:cNvSpPr>
          <p:nvPr>
            <p:ph idx="1"/>
          </p:nvPr>
        </p:nvSpPr>
        <p:spPr bwMode="auto">
          <a:xfrm flipH="0" flipV="0">
            <a:off x="295561" y="1235203"/>
            <a:ext cx="7654897" cy="5578928"/>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0" i="0" u="none">
                <a:solidFill>
                  <a:srgbClr val="000000"/>
                </a:solidFill>
                <a:latin typeface="Times New Roman"/>
                <a:ea typeface="Times New Roman"/>
                <a:cs typeface="Times New Roman"/>
              </a:rPr>
              <a:t>A </a:t>
            </a:r>
            <a:r>
              <a:rPr sz="2000" b="0" i="0" u="none">
                <a:solidFill>
                  <a:srgbClr val="000000"/>
                </a:solidFill>
                <a:latin typeface="Times New Roman"/>
                <a:ea typeface="Times New Roman"/>
                <a:cs typeface="Times New Roman"/>
              </a:rPr>
              <a:t>transistor</a:t>
            </a:r>
            <a:r>
              <a:rPr sz="2000" b="0" i="0" u="none">
                <a:solidFill>
                  <a:srgbClr val="000000"/>
                </a:solidFill>
                <a:latin typeface="Times New Roman"/>
                <a:ea typeface="Times New Roman"/>
                <a:cs typeface="Times New Roman"/>
              </a:rPr>
              <a:t> is a device used to </a:t>
            </a:r>
            <a:r>
              <a:rPr sz="2000" b="0" i="0" u="none">
                <a:solidFill>
                  <a:srgbClr val="000000"/>
                </a:solidFill>
                <a:latin typeface="Times New Roman"/>
                <a:ea typeface="Times New Roman"/>
                <a:cs typeface="Times New Roman"/>
              </a:rPr>
              <a:t>control current</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It has 3 parts:</a:t>
            </a:r>
            <a:endParaRPr sz="2000" b="0"/>
          </a:p>
          <a:p>
            <a:pPr marL="0" indent="0">
              <a:buFont typeface="Arial"/>
              <a:buNone/>
              <a:defRPr/>
            </a:pPr>
            <a:r>
              <a:rPr lang="en-IN" sz="2000" b="0"/>
              <a:t>                </a:t>
            </a:r>
            <a:r>
              <a:rPr sz="2000" b="0" i="0" u="none">
                <a:solidFill>
                  <a:srgbClr val="000000"/>
                </a:solidFill>
                <a:latin typeface="Times New Roman"/>
                <a:ea typeface="Times New Roman"/>
                <a:cs typeface="Times New Roman"/>
              </a:rPr>
              <a:t>Emitter (E)</a:t>
            </a:r>
            <a:endParaRPr sz="2000" b="0"/>
          </a:p>
          <a:p>
            <a:pPr marL="0" indent="0">
              <a:buFont typeface="Arial"/>
              <a:buNone/>
              <a:defRPr/>
            </a:pPr>
            <a:r>
              <a:rPr lang="en-IN" sz="2000" b="0"/>
              <a:t>               </a:t>
            </a:r>
            <a:r>
              <a:rPr sz="2000" b="0" i="0" u="none">
                <a:solidFill>
                  <a:srgbClr val="000000"/>
                </a:solidFill>
                <a:latin typeface="Times New Roman"/>
                <a:ea typeface="Times New Roman"/>
                <a:cs typeface="Times New Roman"/>
              </a:rPr>
              <a:t>Base (B)</a:t>
            </a:r>
            <a:endParaRPr sz="2000" b="0"/>
          </a:p>
          <a:p>
            <a:pPr marL="0" indent="0">
              <a:buFont typeface="Arial"/>
              <a:buNone/>
              <a:defRPr/>
            </a:pPr>
            <a:r>
              <a:rPr lang="en-IN" sz="2000" b="0"/>
              <a:t>                </a:t>
            </a:r>
            <a:r>
              <a:rPr sz="2000" b="0" i="0" u="none">
                <a:solidFill>
                  <a:srgbClr val="000000"/>
                </a:solidFill>
                <a:latin typeface="Times New Roman"/>
                <a:ea typeface="Times New Roman"/>
                <a:cs typeface="Times New Roman"/>
              </a:rPr>
              <a:t>Collector (C)</a:t>
            </a:r>
            <a:endParaRPr sz="2000" b="0"/>
          </a:p>
          <a:p>
            <a:pPr>
              <a:defRPr/>
            </a:pPr>
            <a:r>
              <a:rPr sz="2000" b="0" i="0" u="none">
                <a:solidFill>
                  <a:srgbClr val="000000"/>
                </a:solidFill>
                <a:latin typeface="Times New Roman"/>
                <a:ea typeface="Times New Roman"/>
                <a:cs typeface="Times New Roman"/>
              </a:rPr>
              <a:t>Base is </a:t>
            </a:r>
            <a:r>
              <a:rPr sz="2000" b="0" i="0" u="none">
                <a:solidFill>
                  <a:srgbClr val="000000"/>
                </a:solidFill>
                <a:latin typeface="Times New Roman"/>
                <a:ea typeface="Times New Roman"/>
                <a:cs typeface="Times New Roman"/>
              </a:rPr>
              <a:t>very thin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Emitter is </a:t>
            </a:r>
            <a:r>
              <a:rPr sz="2000" b="0" i="0" u="none">
                <a:solidFill>
                  <a:srgbClr val="000000"/>
                </a:solidFill>
                <a:latin typeface="Times New Roman"/>
                <a:ea typeface="Times New Roman"/>
                <a:cs typeface="Times New Roman"/>
              </a:rPr>
              <a:t>heavily doped</a:t>
            </a:r>
            <a:r>
              <a:rPr lang="en-IN" sz="2000" b="0" i="0" u="none">
                <a:solidFill>
                  <a:srgbClr val="000000"/>
                </a:solidFill>
                <a:latin typeface="Times New Roman"/>
                <a:ea typeface="Times New Roman"/>
                <a:cs typeface="Times New Roman"/>
              </a:rPr>
              <a:t> &amp; </a:t>
            </a:r>
            <a:r>
              <a:rPr sz="2000" b="0" i="0" u="none">
                <a:solidFill>
                  <a:srgbClr val="000000"/>
                </a:solidFill>
                <a:latin typeface="Times New Roman"/>
                <a:ea typeface="Times New Roman"/>
                <a:cs typeface="Times New Roman"/>
              </a:rPr>
              <a:t>Collector is </a:t>
            </a:r>
            <a:r>
              <a:rPr sz="2000" b="0" i="0" u="none">
                <a:solidFill>
                  <a:srgbClr val="000000"/>
                </a:solidFill>
                <a:latin typeface="Times New Roman"/>
                <a:ea typeface="Times New Roman"/>
                <a:cs typeface="Times New Roman"/>
              </a:rPr>
              <a:t>moderately doped</a:t>
            </a:r>
            <a:endParaRPr sz="2000" b="0"/>
          </a:p>
          <a:p>
            <a:pPr>
              <a:defRPr/>
            </a:pPr>
            <a:r>
              <a:rPr sz="2000" b="0" i="0" u="none">
                <a:solidFill>
                  <a:srgbClr val="000000"/>
                </a:solidFill>
                <a:latin typeface="Times New Roman"/>
                <a:ea typeface="Times New Roman"/>
                <a:cs typeface="Times New Roman"/>
              </a:rPr>
              <a:t>Without Base Current</a:t>
            </a:r>
            <a:r>
              <a:rPr lang="en-IN" sz="2000" b="0" i="0" u="none">
                <a:solidFill>
                  <a:srgbClr val="000000"/>
                </a:solidFill>
                <a:latin typeface="Times New Roman"/>
                <a:ea typeface="Times New Roman"/>
                <a:cs typeface="Times New Roman"/>
              </a:rPr>
              <a:t> </a:t>
            </a:r>
            <a:r>
              <a:rPr lang="en-IN" sz="2000" b="0" i="0" u="none">
                <a:solidFill>
                  <a:srgbClr val="000000"/>
                </a:solidFill>
                <a:latin typeface="Times New Roman"/>
                <a:ea typeface="Times New Roman"/>
                <a:cs typeface="Times New Roman"/>
              </a:rPr>
              <a:t>n</a:t>
            </a:r>
            <a:r>
              <a:rPr sz="2000" b="0" i="0" u="none">
                <a:solidFill>
                  <a:srgbClr val="000000"/>
                </a:solidFill>
                <a:latin typeface="Times New Roman"/>
                <a:ea typeface="Times New Roman"/>
                <a:cs typeface="Times New Roman"/>
              </a:rPr>
              <a:t>o current into base</a:t>
            </a:r>
            <a:r>
              <a:rPr lang="en-IN" sz="2000" b="0" i="0" u="none">
                <a:solidFill>
                  <a:srgbClr val="000000"/>
                </a:solidFill>
                <a:latin typeface="Times New Roman"/>
                <a:ea typeface="Times New Roman"/>
                <a:cs typeface="Times New Roman"/>
              </a:rPr>
              <a:t> so </a:t>
            </a:r>
            <a:r>
              <a:rPr sz="2000" b="0" i="0" u="none">
                <a:solidFill>
                  <a:srgbClr val="000000"/>
                </a:solidFill>
                <a:latin typeface="Times New Roman"/>
                <a:ea typeface="Times New Roman"/>
                <a:cs typeface="Times New Roman"/>
              </a:rPr>
              <a:t>Transistor is </a:t>
            </a:r>
            <a:r>
              <a:rPr sz="2000" b="0" i="0" u="none">
                <a:solidFill>
                  <a:srgbClr val="000000"/>
                </a:solidFill>
                <a:latin typeface="Times New Roman"/>
                <a:ea typeface="Times New Roman"/>
                <a:cs typeface="Times New Roman"/>
              </a:rPr>
              <a:t>OFF</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No current from collector to emitter</a:t>
            </a:r>
            <a:endParaRPr sz="2000" b="0"/>
          </a:p>
          <a:p>
            <a:pPr>
              <a:defRPr/>
            </a:pPr>
            <a:r>
              <a:rPr sz="2000" b="0" i="0" u="none">
                <a:solidFill>
                  <a:srgbClr val="000000"/>
                </a:solidFill>
                <a:latin typeface="Times New Roman"/>
                <a:ea typeface="Times New Roman"/>
                <a:cs typeface="Times New Roman"/>
              </a:rPr>
              <a:t>With Small Base Current</a:t>
            </a:r>
            <a:endParaRPr sz="2000" b="0"/>
          </a:p>
          <a:p>
            <a:pPr>
              <a:defRPr/>
            </a:pPr>
            <a:r>
              <a:rPr sz="2000" b="0" i="0" u="none">
                <a:solidFill>
                  <a:srgbClr val="000000"/>
                </a:solidFill>
                <a:latin typeface="Times New Roman"/>
                <a:ea typeface="Times New Roman"/>
                <a:cs typeface="Times New Roman"/>
              </a:rPr>
              <a:t> Small current enters base</a:t>
            </a:r>
            <a:r>
              <a:rPr lang="en-IN" sz="2000" b="0" i="0" u="none">
                <a:solidFill>
                  <a:srgbClr val="000000"/>
                </a:solidFill>
                <a:latin typeface="Times New Roman"/>
                <a:ea typeface="Times New Roman"/>
                <a:cs typeface="Times New Roman"/>
              </a:rPr>
              <a:t> so </a:t>
            </a:r>
            <a:r>
              <a:rPr sz="2000" b="0" i="0" u="none">
                <a:solidFill>
                  <a:srgbClr val="000000"/>
                </a:solidFill>
                <a:latin typeface="Times New Roman"/>
                <a:ea typeface="Times New Roman"/>
                <a:cs typeface="Times New Roman"/>
              </a:rPr>
              <a:t> Large current flows from </a:t>
            </a:r>
            <a:r>
              <a:rPr sz="2000" b="0" i="0" u="none">
                <a:solidFill>
                  <a:srgbClr val="000000"/>
                </a:solidFill>
                <a:latin typeface="Times New Roman"/>
                <a:ea typeface="Times New Roman"/>
                <a:cs typeface="Times New Roman"/>
              </a:rPr>
              <a:t>collector to emitter</a:t>
            </a:r>
            <a:endParaRPr sz="2000" b="0"/>
          </a:p>
          <a:p>
            <a:pPr>
              <a:defRPr/>
            </a:pP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C</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β</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B</a:t>
            </a:r>
            <a:r>
              <a:rPr sz="2000" b="0" i="0" u="none">
                <a:solidFill>
                  <a:srgbClr val="000000"/>
                </a:solidFill>
                <a:latin typeface="Times New Roman"/>
                <a:ea typeface="Times New Roman"/>
                <a:cs typeface="Times New Roman"/>
              </a:rPr>
              <a:t>​</a:t>
            </a:r>
            <a:endParaRPr sz="2000" b="0"/>
          </a:p>
        </p:txBody>
      </p:sp>
      <p:pic>
        <p:nvPicPr>
          <p:cNvPr id="1120318454" name=""/>
          <p:cNvPicPr>
            <a:picLocks noChangeAspect="1"/>
          </p:cNvPicPr>
          <p:nvPr/>
        </p:nvPicPr>
        <p:blipFill rotWithShape="1">
          <a:blip r:embed="rId3"/>
          <a:stretch/>
        </p:blipFill>
        <p:spPr bwMode="auto">
          <a:xfrm>
            <a:off x="8689132" y="466530"/>
            <a:ext cx="3219449" cy="4410074"/>
          </a:xfrm>
          <a:prstGeom prst="rect">
            <a:avLst/>
          </a:prstGeom>
        </p:spPr>
      </p:pic>
      <p:pic>
        <p:nvPicPr>
          <p:cNvPr id="720650392" name=""/>
          <p:cNvPicPr>
            <a:picLocks noChangeAspect="1"/>
          </p:cNvPicPr>
          <p:nvPr/>
        </p:nvPicPr>
        <p:blipFill rotWithShape="1">
          <a:blip r:embed="rId4"/>
          <a:stretch/>
        </p:blipFill>
        <p:spPr bwMode="auto">
          <a:xfrm>
            <a:off x="7950458" y="3926632"/>
            <a:ext cx="4810124" cy="30765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6558647" name="Title 1"/>
          <p:cNvSpPr>
            <a:spLocks noGrp="1"/>
          </p:cNvSpPr>
          <p:nvPr>
            <p:ph type="title"/>
          </p:nvPr>
        </p:nvSpPr>
        <p:spPr bwMode="auto">
          <a:xfrm flipH="0" flipV="0">
            <a:off x="838199" y="-28316"/>
            <a:ext cx="10515600" cy="855306"/>
          </a:xfrm>
        </p:spPr>
        <p:txBody>
          <a:bodyPr/>
          <a:lstStyle/>
          <a:p>
            <a:pPr>
              <a:defRPr/>
            </a:pPr>
            <a:r>
              <a:rPr lang="en-IN" sz="2000" b="1" i="0" u="none" strike="noStrike" cap="none" spc="0">
                <a:solidFill>
                  <a:srgbClr val="000000"/>
                </a:solidFill>
                <a:latin typeface="Times New Roman"/>
                <a:ea typeface="Times New Roman"/>
                <a:cs typeface="Times New Roman"/>
              </a:rPr>
              <a:t>P</a:t>
            </a:r>
            <a:r>
              <a:rPr lang="en-US" sz="2000" b="1" i="0" u="none" strike="noStrike" cap="none" spc="0">
                <a:solidFill>
                  <a:srgbClr val="000000"/>
                </a:solidFill>
                <a:latin typeface="Times New Roman"/>
                <a:ea typeface="Times New Roman"/>
                <a:cs typeface="Times New Roman"/>
              </a:rPr>
              <a:t>hototransistor </a:t>
            </a:r>
            <a:endParaRPr/>
          </a:p>
        </p:txBody>
      </p:sp>
      <p:sp>
        <p:nvSpPr>
          <p:cNvPr id="1290027522" name="Content Placeholder 2"/>
          <p:cNvSpPr>
            <a:spLocks noGrp="1"/>
          </p:cNvSpPr>
          <p:nvPr>
            <p:ph idx="1"/>
          </p:nvPr>
        </p:nvSpPr>
        <p:spPr bwMode="auto">
          <a:xfrm flipH="0" flipV="0">
            <a:off x="140050" y="652040"/>
            <a:ext cx="11721581" cy="6103775"/>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sz="2000" b="0" i="0" u="none">
                <a:solidFill>
                  <a:srgbClr val="000000"/>
                </a:solidFill>
                <a:latin typeface="Times New Roman"/>
                <a:ea typeface="Times New Roman"/>
                <a:cs typeface="Times New Roman"/>
              </a:rPr>
              <a:t>A phototransistor is a light-sensitive transistor in which incident light generates base current, resulting in an amplified collector current proportional to light intensity</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Light generates the base current</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In Darkness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No light → no base current</a:t>
            </a:r>
            <a:r>
              <a:rPr lang="en-IN" sz="2000" b="0" i="0" u="none">
                <a:solidFill>
                  <a:srgbClr val="000000"/>
                </a:solidFill>
                <a:latin typeface="Times New Roman"/>
                <a:ea typeface="Times New Roman"/>
                <a:cs typeface="Times New Roman"/>
              </a:rPr>
              <a:t> so </a:t>
            </a:r>
            <a:r>
              <a:rPr sz="2000" b="0" i="0" u="none">
                <a:solidFill>
                  <a:srgbClr val="000000"/>
                </a:solidFill>
                <a:latin typeface="Times New Roman"/>
                <a:ea typeface="Times New Roman"/>
                <a:cs typeface="Times New Roman"/>
              </a:rPr>
              <a:t>Transistor is </a:t>
            </a:r>
            <a:r>
              <a:rPr sz="2000" b="0" i="0" u="none">
                <a:solidFill>
                  <a:srgbClr val="000000"/>
                </a:solidFill>
                <a:latin typeface="Times New Roman"/>
                <a:ea typeface="Times New Roman"/>
                <a:cs typeface="Times New Roman"/>
              </a:rPr>
              <a:t>OFF</a:t>
            </a:r>
            <a:r>
              <a:rPr lang="en-IN" sz="2000" b="0" i="0" u="none">
                <a:solidFill>
                  <a:srgbClr val="000000"/>
                </a:solidFill>
                <a:latin typeface="Times New Roman"/>
                <a:ea typeface="Times New Roman"/>
                <a:cs typeface="Times New Roman"/>
              </a:rPr>
              <a:t> i.e </a:t>
            </a:r>
            <a:r>
              <a:rPr sz="2000" b="0" i="0" u="none">
                <a:solidFill>
                  <a:srgbClr val="000000"/>
                </a:solidFill>
                <a:latin typeface="Times New Roman"/>
                <a:ea typeface="Times New Roman"/>
                <a:cs typeface="Times New Roman"/>
              </a:rPr>
              <a:t>Only very small leakage current</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When Light Falls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Step 1: Generation of carriers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Light falls on </a:t>
            </a:r>
            <a:r>
              <a:rPr sz="2000" b="0" i="0" u="none">
                <a:solidFill>
                  <a:srgbClr val="000000"/>
                </a:solidFill>
                <a:latin typeface="Times New Roman"/>
                <a:ea typeface="Times New Roman"/>
                <a:cs typeface="Times New Roman"/>
              </a:rPr>
              <a:t>base-collector junction</a:t>
            </a: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 Creates </a:t>
            </a:r>
            <a:r>
              <a:rPr sz="2000" b="0" i="0" u="none">
                <a:solidFill>
                  <a:srgbClr val="000000"/>
                </a:solidFill>
                <a:latin typeface="Times New Roman"/>
                <a:ea typeface="Times New Roman"/>
                <a:cs typeface="Times New Roman"/>
              </a:rPr>
              <a:t>electron–hole pairs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Step 2: Base current formation</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These carriers act like a </a:t>
            </a:r>
            <a:r>
              <a:rPr sz="2000" b="0" i="0" u="none">
                <a:solidFill>
                  <a:srgbClr val="000000"/>
                </a:solidFill>
                <a:latin typeface="Times New Roman"/>
                <a:ea typeface="Times New Roman"/>
                <a:cs typeface="Times New Roman"/>
              </a:rPr>
              <a:t>base current (I_B)</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Step 3: Current amplification</a:t>
            </a:r>
            <a:endParaRPr sz="2000" b="0">
              <a:latin typeface="Times New Roman"/>
              <a:cs typeface="Times New Roman"/>
            </a:endParaRPr>
          </a:p>
          <a:p>
            <a:pPr marL="0" indent="0">
              <a:buFont typeface="Arial"/>
              <a:buNone/>
              <a:defRPr/>
            </a:pP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C</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β</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B</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Small base current gets </a:t>
            </a:r>
            <a:r>
              <a:rPr sz="2000" b="0" i="0" u="none">
                <a:solidFill>
                  <a:srgbClr val="000000"/>
                </a:solidFill>
                <a:latin typeface="Times New Roman"/>
                <a:ea typeface="Times New Roman"/>
                <a:cs typeface="Times New Roman"/>
              </a:rPr>
              <a:t>amplified</a:t>
            </a:r>
            <a:r>
              <a:rPr lang="en-IN" sz="2000" b="0" i="0" u="none">
                <a:solidFill>
                  <a:srgbClr val="000000"/>
                </a:solidFill>
                <a:latin typeface="Times New Roman"/>
                <a:ea typeface="Times New Roman"/>
                <a:cs typeface="Times New Roman"/>
              </a:rPr>
              <a:t> and </a:t>
            </a:r>
            <a:r>
              <a:rPr sz="2000" b="0" i="0" u="none">
                <a:solidFill>
                  <a:srgbClr val="000000"/>
                </a:solidFill>
                <a:latin typeface="Times New Roman"/>
                <a:ea typeface="Times New Roman"/>
                <a:cs typeface="Times New Roman"/>
              </a:rPr>
              <a:t>Large </a:t>
            </a:r>
            <a:r>
              <a:rPr sz="2000" b="0" i="0" u="none">
                <a:solidFill>
                  <a:srgbClr val="000000"/>
                </a:solidFill>
                <a:latin typeface="Times New Roman"/>
                <a:ea typeface="Times New Roman"/>
                <a:cs typeface="Times New Roman"/>
              </a:rPr>
              <a:t>collector current (I_C)</a:t>
            </a:r>
            <a:r>
              <a:rPr sz="2000" b="0" i="0" u="none">
                <a:solidFill>
                  <a:srgbClr val="000000"/>
                </a:solidFill>
                <a:latin typeface="Times New Roman"/>
                <a:ea typeface="Times New Roman"/>
                <a:cs typeface="Times New Roman"/>
              </a:rPr>
              <a:t> flows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Step 4: Output voltage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Current flows through resistor </a:t>
            </a:r>
            <a:r>
              <a:rPr sz="2000" b="0" i="0" u="none">
                <a:solidFill>
                  <a:srgbClr val="000000"/>
                </a:solidFill>
                <a:latin typeface="Times New Roman"/>
                <a:ea typeface="Times New Roman"/>
                <a:cs typeface="Times New Roman"/>
              </a:rPr>
              <a:t>R</a:t>
            </a:r>
            <a:r>
              <a:rPr sz="2000" b="0" i="0" u="none">
                <a:solidFill>
                  <a:srgbClr val="000000"/>
                </a:solidFill>
                <a:latin typeface="Times New Roman"/>
                <a:ea typeface="Times New Roman"/>
                <a:cs typeface="Times New Roman"/>
              </a:rPr>
              <a:t>C</a:t>
            </a:r>
            <a:endParaRPr sz="2000" b="0">
              <a:latin typeface="Times New Roman"/>
              <a:cs typeface="Times New Roman"/>
            </a:endParaRPr>
          </a:p>
          <a:p>
            <a:pPr marL="0" indent="0">
              <a:buFont typeface="Arial"/>
              <a:buNone/>
              <a:defRPr/>
            </a:pPr>
            <a:r>
              <a:rPr lang="en-IN"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V</a:t>
            </a:r>
            <a:r>
              <a:rPr sz="2000" b="0" i="0" u="none">
                <a:solidFill>
                  <a:srgbClr val="000000"/>
                </a:solidFill>
                <a:latin typeface="Times New Roman"/>
                <a:ea typeface="Times New Roman"/>
                <a:cs typeface="Times New Roman"/>
              </a:rPr>
              <a:t>o</a:t>
            </a:r>
            <a:r>
              <a:rPr sz="2000" b="0" i="0" u="none">
                <a:solidFill>
                  <a:srgbClr val="000000"/>
                </a:solidFill>
                <a:latin typeface="Times New Roman"/>
                <a:ea typeface="Times New Roman"/>
                <a:cs typeface="Times New Roman"/>
              </a:rPr>
              <a:t>u</a:t>
            </a:r>
            <a:r>
              <a:rPr sz="2000" b="0" i="0" u="none">
                <a:solidFill>
                  <a:srgbClr val="000000"/>
                </a:solidFill>
                <a:latin typeface="Times New Roman"/>
                <a:ea typeface="Times New Roman"/>
                <a:cs typeface="Times New Roman"/>
              </a:rPr>
              <a:t>t</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V</a:t>
            </a:r>
            <a:r>
              <a:rPr sz="2000" b="0" i="0" u="none">
                <a:solidFill>
                  <a:srgbClr val="000000"/>
                </a:solidFill>
                <a:latin typeface="Times New Roman"/>
                <a:ea typeface="Times New Roman"/>
                <a:cs typeface="Times New Roman"/>
              </a:rPr>
              <a:t>c</a:t>
            </a:r>
            <a:r>
              <a:rPr sz="2000" b="0" i="0" u="none">
                <a:solidFill>
                  <a:srgbClr val="000000"/>
                </a:solidFill>
                <a:latin typeface="Times New Roman"/>
                <a:ea typeface="Times New Roman"/>
                <a:cs typeface="Times New Roman"/>
              </a:rPr>
              <a:t>c</a:t>
            </a:r>
            <a:r>
              <a:rPr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I</a:t>
            </a:r>
            <a:r>
              <a:rPr sz="2000" b="0" i="0" u="none">
                <a:solidFill>
                  <a:srgbClr val="000000"/>
                </a:solidFill>
                <a:latin typeface="Times New Roman"/>
                <a:ea typeface="Times New Roman"/>
                <a:cs typeface="Times New Roman"/>
              </a:rPr>
              <a:t>C</a:t>
            </a:r>
            <a:r>
              <a:rPr sz="2000" b="0" i="0" u="none">
                <a:solidFill>
                  <a:srgbClr val="000000"/>
                </a:solidFill>
                <a:latin typeface="Times New Roman"/>
                <a:ea typeface="Times New Roman"/>
                <a:cs typeface="Times New Roman"/>
              </a:rPr>
              <a:t>R</a:t>
            </a:r>
            <a:r>
              <a:rPr sz="2000" b="0" i="0" u="none">
                <a:solidFill>
                  <a:srgbClr val="000000"/>
                </a:solidFill>
                <a:latin typeface="Times New Roman"/>
                <a:ea typeface="Times New Roman"/>
                <a:cs typeface="Times New Roman"/>
              </a:rPr>
              <a:t>C</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More light → more current → change in output voltage</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9754947" name="Title 1"/>
          <p:cNvSpPr>
            <a:spLocks noGrp="1"/>
          </p:cNvSpPr>
          <p:nvPr>
            <p:ph type="title"/>
          </p:nvPr>
        </p:nvSpPr>
        <p:spPr bwMode="auto"/>
        <p:txBody>
          <a:bodyPr/>
          <a:lstStyle/>
          <a:p>
            <a:pPr>
              <a:defRPr/>
            </a:pPr>
            <a:endParaRPr/>
          </a:p>
        </p:txBody>
      </p:sp>
      <p:sp>
        <p:nvSpPr>
          <p:cNvPr id="884477663" name="Content Placeholder 2"/>
          <p:cNvSpPr>
            <a:spLocks noGrp="1"/>
          </p:cNvSpPr>
          <p:nvPr>
            <p:ph idx="1"/>
          </p:nvPr>
        </p:nvSpPr>
        <p:spPr bwMode="auto">
          <a:xfrm flipH="0" flipV="0">
            <a:off x="838198" y="1027906"/>
            <a:ext cx="10515600" cy="5149056"/>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1" i="0" u="none">
                <a:solidFill>
                  <a:srgbClr val="000000"/>
                </a:solidFill>
                <a:latin typeface="Times New Roman"/>
                <a:ea typeface="Times New Roman"/>
                <a:cs typeface="Times New Roman"/>
              </a:rPr>
              <a:t>Key Characteristics</a:t>
            </a:r>
            <a:endParaRPr sz="2000" b="0"/>
          </a:p>
          <a:p>
            <a:pPr>
              <a:defRPr/>
            </a:pPr>
            <a:r>
              <a:rPr sz="2000" b="0" i="0" u="sng">
                <a:solidFill>
                  <a:srgbClr val="000000"/>
                </a:solidFill>
                <a:latin typeface="Times New Roman"/>
                <a:ea typeface="Times New Roman"/>
                <a:cs typeface="Times New Roman"/>
              </a:rPr>
              <a:t>High Sensitivity</a:t>
            </a:r>
            <a:endParaRPr sz="2000" b="0"/>
          </a:p>
          <a:p>
            <a:pPr>
              <a:defRPr/>
            </a:pPr>
            <a:r>
              <a:rPr sz="2000" b="0" i="0" u="none">
                <a:solidFill>
                  <a:srgbClr val="000000"/>
                </a:solidFill>
                <a:latin typeface="Times New Roman"/>
                <a:ea typeface="Times New Roman"/>
                <a:cs typeface="Times New Roman"/>
              </a:rPr>
              <a:t>More sensitive than photodiode (due to gain)</a:t>
            </a:r>
            <a:endParaRPr sz="2000" b="0"/>
          </a:p>
          <a:p>
            <a:pPr>
              <a:defRPr/>
            </a:pPr>
            <a:r>
              <a:rPr sz="2000" b="0" i="0" u="sng">
                <a:solidFill>
                  <a:srgbClr val="000000"/>
                </a:solidFill>
                <a:latin typeface="Times New Roman"/>
                <a:ea typeface="Times New Roman"/>
                <a:cs typeface="Times New Roman"/>
              </a:rPr>
              <a:t>Slower Response</a:t>
            </a:r>
            <a:endParaRPr sz="2000" b="0"/>
          </a:p>
          <a:p>
            <a:pPr>
              <a:defRPr/>
            </a:pPr>
            <a:r>
              <a:rPr sz="2000" b="0" i="0" u="none">
                <a:solidFill>
                  <a:srgbClr val="000000"/>
                </a:solidFill>
                <a:latin typeface="Times New Roman"/>
                <a:ea typeface="Times New Roman"/>
                <a:cs typeface="Times New Roman"/>
              </a:rPr>
              <a:t>Slower than photodiode (due to charge storage)</a:t>
            </a:r>
            <a:endParaRPr sz="2000" b="0"/>
          </a:p>
          <a:p>
            <a:pPr>
              <a:defRPr/>
            </a:pPr>
            <a:r>
              <a:rPr sz="2000" b="0" i="0" u="sng">
                <a:solidFill>
                  <a:srgbClr val="000000"/>
                </a:solidFill>
                <a:latin typeface="Times New Roman"/>
                <a:ea typeface="Times New Roman"/>
                <a:cs typeface="Times New Roman"/>
              </a:rPr>
              <a:t>Nonlinear Output</a:t>
            </a:r>
            <a:endParaRPr sz="2000" b="0"/>
          </a:p>
          <a:p>
            <a:pPr>
              <a:defRPr/>
            </a:pPr>
            <a:r>
              <a:rPr sz="2000" b="0" i="0" u="none">
                <a:solidFill>
                  <a:srgbClr val="000000"/>
                </a:solidFill>
                <a:latin typeface="Times New Roman"/>
                <a:ea typeface="Times New Roman"/>
                <a:cs typeface="Times New Roman"/>
              </a:rPr>
              <a:t>Output not perfectly proportional to light</a:t>
            </a:r>
            <a:endParaRPr sz="2000" b="0"/>
          </a:p>
          <a:p>
            <a:pPr>
              <a:defRPr/>
            </a:pPr>
            <a:r>
              <a:rPr sz="2000" b="1" i="0" u="none">
                <a:solidFill>
                  <a:srgbClr val="000000"/>
                </a:solidFill>
                <a:latin typeface="Times New Roman"/>
                <a:ea typeface="Times New Roman"/>
                <a:cs typeface="Times New Roman"/>
              </a:rPr>
              <a:t>Common Applications</a:t>
            </a:r>
            <a:endParaRPr sz="2000" b="0"/>
          </a:p>
          <a:p>
            <a:pPr>
              <a:defRPr/>
            </a:pPr>
            <a:r>
              <a:rPr sz="2000" b="0" i="0" u="sng">
                <a:solidFill>
                  <a:srgbClr val="000000"/>
                </a:solidFill>
                <a:latin typeface="Times New Roman"/>
                <a:ea typeface="Times New Roman"/>
                <a:cs typeface="Times New Roman"/>
              </a:rPr>
              <a:t>Light Sensors</a:t>
            </a:r>
            <a:endParaRPr sz="2000" b="0"/>
          </a:p>
          <a:p>
            <a:pPr>
              <a:defRPr/>
            </a:pPr>
            <a:r>
              <a:rPr sz="2000" b="0" i="0" u="none">
                <a:solidFill>
                  <a:srgbClr val="000000"/>
                </a:solidFill>
                <a:latin typeface="Times New Roman"/>
                <a:ea typeface="Times New Roman"/>
                <a:cs typeface="Times New Roman"/>
              </a:rPr>
              <a:t>Automatic street lights</a:t>
            </a:r>
            <a:endParaRPr sz="2000" b="0"/>
          </a:p>
          <a:p>
            <a:pPr>
              <a:defRPr/>
            </a:pPr>
            <a:r>
              <a:rPr sz="2000" b="0" i="0" u="sng">
                <a:solidFill>
                  <a:srgbClr val="000000"/>
                </a:solidFill>
                <a:latin typeface="Times New Roman"/>
                <a:ea typeface="Times New Roman"/>
                <a:cs typeface="Times New Roman"/>
              </a:rPr>
              <a:t>Security Systems</a:t>
            </a:r>
            <a:endParaRPr sz="2000" b="0"/>
          </a:p>
          <a:p>
            <a:pPr>
              <a:defRPr/>
            </a:pPr>
            <a:r>
              <a:rPr sz="2000" b="0" i="0" u="none">
                <a:solidFill>
                  <a:srgbClr val="000000"/>
                </a:solidFill>
                <a:latin typeface="Times New Roman"/>
                <a:ea typeface="Times New Roman"/>
                <a:cs typeface="Times New Roman"/>
              </a:rPr>
              <a:t>Intrusion detection</a:t>
            </a:r>
            <a:endParaRPr sz="2000" b="0"/>
          </a:p>
        </p:txBody>
      </p:sp>
      <p:pic>
        <p:nvPicPr>
          <p:cNvPr id="661073809" name=""/>
          <p:cNvPicPr>
            <a:picLocks noChangeAspect="1"/>
          </p:cNvPicPr>
          <p:nvPr/>
        </p:nvPicPr>
        <p:blipFill rotWithShape="1">
          <a:blip r:embed="rId3"/>
          <a:stretch/>
        </p:blipFill>
        <p:spPr bwMode="auto">
          <a:xfrm>
            <a:off x="9136223" y="941824"/>
            <a:ext cx="2562224" cy="39147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0528522"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Photoelectric Effect </a:t>
            </a:r>
            <a:endParaRPr sz="2000" b="1"/>
          </a:p>
        </p:txBody>
      </p:sp>
      <p:sp>
        <p:nvSpPr>
          <p:cNvPr id="1952167778"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First, light falls on a metal surface. This metal surface contains electrons inside it.</a:t>
            </a:r>
            <a:endParaRPr sz="2000" b="0"/>
          </a:p>
          <a:p>
            <a:pPr>
              <a:defRPr/>
            </a:pPr>
            <a:r>
              <a:rPr sz="2000" b="0" i="0" u="none">
                <a:solidFill>
                  <a:srgbClr val="000000"/>
                </a:solidFill>
                <a:latin typeface="Times New Roman"/>
                <a:ea typeface="Times New Roman"/>
                <a:cs typeface="Times New Roman"/>
              </a:rPr>
              <a:t>Light is made of small energy packets called </a:t>
            </a:r>
            <a:r>
              <a:rPr sz="2000" b="0" i="0" u="none">
                <a:solidFill>
                  <a:srgbClr val="000000"/>
                </a:solidFill>
                <a:latin typeface="Times New Roman"/>
                <a:ea typeface="Times New Roman"/>
                <a:cs typeface="Times New Roman"/>
              </a:rPr>
              <a:t>photons</a:t>
            </a:r>
            <a:r>
              <a:rPr sz="2000" b="0" i="0" u="none">
                <a:solidFill>
                  <a:srgbClr val="000000"/>
                </a:solidFill>
                <a:latin typeface="Times New Roman"/>
                <a:ea typeface="Times New Roman"/>
                <a:cs typeface="Times New Roman"/>
              </a:rPr>
              <a:t>. When these photons hit the metal, they give their energy to the electrons present in the metal.</a:t>
            </a:r>
            <a:endParaRPr sz="2000" b="0"/>
          </a:p>
          <a:p>
            <a:pPr>
              <a:defRPr/>
            </a:pPr>
            <a:r>
              <a:rPr sz="2000" b="0" i="0" u="none">
                <a:solidFill>
                  <a:srgbClr val="000000"/>
                </a:solidFill>
                <a:latin typeface="Times New Roman"/>
                <a:ea typeface="Times New Roman"/>
                <a:cs typeface="Times New Roman"/>
              </a:rPr>
              <a:t>If the energy of the light is </a:t>
            </a:r>
            <a:r>
              <a:rPr sz="2000" b="0" i="0" u="none">
                <a:solidFill>
                  <a:srgbClr val="000000"/>
                </a:solidFill>
                <a:latin typeface="Times New Roman"/>
                <a:ea typeface="Times New Roman"/>
                <a:cs typeface="Times New Roman"/>
              </a:rPr>
              <a:t>high enough</a:t>
            </a:r>
            <a:r>
              <a:rPr sz="2000" b="0" i="0" u="none">
                <a:solidFill>
                  <a:srgbClr val="000000"/>
                </a:solidFill>
                <a:latin typeface="Times New Roman"/>
                <a:ea typeface="Times New Roman"/>
                <a:cs typeface="Times New Roman"/>
              </a:rPr>
              <a:t>, the electrons will get enough energy to escape from the metal surface. This process is called the </a:t>
            </a:r>
            <a:r>
              <a:rPr sz="2000" b="0" i="0" u="none">
                <a:solidFill>
                  <a:srgbClr val="000000"/>
                </a:solidFill>
                <a:latin typeface="Times New Roman"/>
                <a:ea typeface="Times New Roman"/>
                <a:cs typeface="Times New Roman"/>
              </a:rPr>
              <a:t>photoelectric effect</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If the light energy is </a:t>
            </a:r>
            <a:r>
              <a:rPr sz="2000" b="0" i="0" u="none">
                <a:solidFill>
                  <a:srgbClr val="000000"/>
                </a:solidFill>
                <a:latin typeface="Times New Roman"/>
                <a:ea typeface="Times New Roman"/>
                <a:cs typeface="Times New Roman"/>
              </a:rPr>
              <a:t>low</a:t>
            </a:r>
            <a:r>
              <a:rPr sz="2000" b="0" i="0" u="none">
                <a:solidFill>
                  <a:srgbClr val="000000"/>
                </a:solidFill>
                <a:latin typeface="Times New Roman"/>
                <a:ea typeface="Times New Roman"/>
                <a:cs typeface="Times New Roman"/>
              </a:rPr>
              <a:t>, electrons will not come out, even if the light is very bright. So, the </a:t>
            </a:r>
            <a:r>
              <a:rPr sz="2000" b="0" i="0" u="none">
                <a:solidFill>
                  <a:srgbClr val="000000"/>
                </a:solidFill>
                <a:latin typeface="Times New Roman"/>
                <a:ea typeface="Times New Roman"/>
                <a:cs typeface="Times New Roman"/>
              </a:rPr>
              <a:t>frequency (energy) of light is more important than intensity</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When more light falls, more electrons are emitted. So:</a:t>
            </a:r>
            <a:endParaRPr sz="2000" b="0"/>
          </a:p>
          <a:p>
            <a:pPr>
              <a:defRPr/>
            </a:pPr>
            <a:r>
              <a:rPr sz="2000" b="0" i="0" u="none">
                <a:solidFill>
                  <a:srgbClr val="000000"/>
                </a:solidFill>
                <a:latin typeface="Times New Roman"/>
                <a:ea typeface="Times New Roman"/>
                <a:cs typeface="Times New Roman"/>
              </a:rPr>
              <a:t>More light → more electrons</a:t>
            </a:r>
            <a:endParaRPr sz="2000" b="0"/>
          </a:p>
          <a:p>
            <a:pPr>
              <a:defRPr/>
            </a:pPr>
            <a:r>
              <a:rPr sz="2000" b="0" i="0" u="none">
                <a:solidFill>
                  <a:srgbClr val="000000"/>
                </a:solidFill>
                <a:latin typeface="Times New Roman"/>
                <a:ea typeface="Times New Roman"/>
                <a:cs typeface="Times New Roman"/>
              </a:rPr>
              <a:t>Less light → fewer electrons</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8992297"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Significance</a:t>
            </a:r>
            <a:r>
              <a:rPr lang="en-IN" sz="2000" b="1" i="0" u="none">
                <a:solidFill>
                  <a:srgbClr val="000000"/>
                </a:solidFill>
                <a:latin typeface="Times New Roman"/>
                <a:ea typeface="Times New Roman"/>
                <a:cs typeface="Times New Roman"/>
              </a:rPr>
              <a:t> of </a:t>
            </a:r>
            <a:r>
              <a:rPr lang="en-US" sz="2000" b="1" i="0" u="none" strike="noStrike" cap="none" spc="0">
                <a:solidFill>
                  <a:srgbClr val="000000"/>
                </a:solidFill>
                <a:latin typeface="Times New Roman"/>
                <a:ea typeface="Times New Roman"/>
                <a:cs typeface="Times New Roman"/>
              </a:rPr>
              <a:t>Photoelectric Effect </a:t>
            </a:r>
            <a:r>
              <a:rPr lang="en-IN" sz="2000" b="1" i="0" u="none" strike="noStrike" cap="none" spc="0">
                <a:solidFill>
                  <a:srgbClr val="000000"/>
                </a:solidFill>
                <a:latin typeface="Times New Roman"/>
                <a:ea typeface="Times New Roman"/>
                <a:cs typeface="Times New Roman"/>
              </a:rPr>
              <a:t> </a:t>
            </a:r>
            <a:r>
              <a:rPr sz="2000" b="1" i="0" u="none">
                <a:solidFill>
                  <a:srgbClr val="000000"/>
                </a:solidFill>
                <a:latin typeface="Times New Roman"/>
                <a:ea typeface="Times New Roman"/>
                <a:cs typeface="Times New Roman"/>
              </a:rPr>
              <a:t> in Photovoltaic Sensors </a:t>
            </a:r>
            <a:endParaRPr sz="2000" b="1"/>
          </a:p>
        </p:txBody>
      </p:sp>
      <p:sp>
        <p:nvSpPr>
          <p:cNvPr id="1958261127"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Photovoltaic sensors, such as solar cells, work based on the </a:t>
            </a:r>
            <a:r>
              <a:rPr sz="2000" b="0" i="0" u="none">
                <a:solidFill>
                  <a:srgbClr val="000000"/>
                </a:solidFill>
                <a:latin typeface="Times New Roman"/>
                <a:ea typeface="Times New Roman"/>
                <a:cs typeface="Times New Roman"/>
              </a:rPr>
              <a:t>photoelectric effect</a:t>
            </a:r>
            <a:r>
              <a:rPr sz="2000" b="0" i="0" u="none">
                <a:solidFill>
                  <a:srgbClr val="000000"/>
                </a:solidFill>
                <a:latin typeface="Times New Roman"/>
                <a:ea typeface="Times New Roman"/>
                <a:cs typeface="Times New Roman"/>
              </a:rPr>
              <a:t>, which helps in converting light energy into electrical energy.</a:t>
            </a:r>
            <a:endParaRPr sz="2000" b="0"/>
          </a:p>
          <a:p>
            <a:pPr>
              <a:defRPr/>
            </a:pPr>
            <a:r>
              <a:rPr sz="2000" b="0" i="0" u="none">
                <a:solidFill>
                  <a:srgbClr val="000000"/>
                </a:solidFill>
                <a:latin typeface="Times New Roman"/>
                <a:ea typeface="Times New Roman"/>
                <a:cs typeface="Times New Roman"/>
              </a:rPr>
              <a:t>When light falls on the sensor material (usually silicon), the energy from the light is absorbed. Due to this, electrons get excited and </a:t>
            </a:r>
            <a:r>
              <a:rPr sz="2000" b="0" i="0" u="none">
                <a:solidFill>
                  <a:srgbClr val="000000"/>
                </a:solidFill>
                <a:latin typeface="Times New Roman"/>
                <a:ea typeface="Times New Roman"/>
                <a:cs typeface="Times New Roman"/>
              </a:rPr>
              <a:t>electron–hole pairs are generated</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These electrons and holes are separated by the internal electric field present inside the sensor. As a result, electrons move in one direction and holes move in the opposite direction.</a:t>
            </a:r>
            <a:endParaRPr sz="2000" b="0"/>
          </a:p>
          <a:p>
            <a:pPr>
              <a:defRPr/>
            </a:pPr>
            <a:r>
              <a:rPr sz="2000" b="0" i="0" u="none">
                <a:solidFill>
                  <a:srgbClr val="000000"/>
                </a:solidFill>
                <a:latin typeface="Times New Roman"/>
                <a:ea typeface="Times New Roman"/>
                <a:cs typeface="Times New Roman"/>
              </a:rPr>
              <a:t>This movement of charges produces an </a:t>
            </a:r>
            <a:r>
              <a:rPr sz="2000" b="0" i="0" u="none">
                <a:solidFill>
                  <a:srgbClr val="000000"/>
                </a:solidFill>
                <a:latin typeface="Times New Roman"/>
                <a:ea typeface="Times New Roman"/>
                <a:cs typeface="Times New Roman"/>
              </a:rPr>
              <a:t>electric current</a:t>
            </a:r>
            <a:r>
              <a:rPr sz="2000" b="0" i="0" u="none">
                <a:solidFill>
                  <a:srgbClr val="000000"/>
                </a:solidFill>
                <a:latin typeface="Times New Roman"/>
                <a:ea typeface="Times New Roman"/>
                <a:cs typeface="Times New Roman"/>
              </a:rPr>
              <a:t> and also creates a </a:t>
            </a:r>
            <a:r>
              <a:rPr sz="2000" b="0" i="0" u="none">
                <a:solidFill>
                  <a:srgbClr val="000000"/>
                </a:solidFill>
                <a:latin typeface="Times New Roman"/>
                <a:ea typeface="Times New Roman"/>
                <a:cs typeface="Times New Roman"/>
              </a:rPr>
              <a:t>voltage</a:t>
            </a:r>
            <a:r>
              <a:rPr sz="2000" b="0" i="0" u="none">
                <a:solidFill>
                  <a:srgbClr val="000000"/>
                </a:solidFill>
                <a:latin typeface="Times New Roman"/>
                <a:ea typeface="Times New Roman"/>
                <a:cs typeface="Times New Roman"/>
              </a:rPr>
              <a:t> across the device.</a:t>
            </a:r>
            <a:endParaRPr sz="2000" b="0"/>
          </a:p>
          <a:p>
            <a:pPr>
              <a:defRPr/>
            </a:pPr>
            <a:r>
              <a:rPr sz="2000" b="0" i="0" u="none">
                <a:solidFill>
                  <a:srgbClr val="000000"/>
                </a:solidFill>
                <a:latin typeface="Times New Roman"/>
                <a:ea typeface="Times New Roman"/>
                <a:cs typeface="Times New Roman"/>
              </a:rPr>
              <a:t>Thus, the sensor converts light energy directly into electrical energy without using any external power supply.</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4544657"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Photomultiplier Tube (PMT) </a:t>
            </a:r>
            <a:endParaRPr sz="2000" b="1"/>
          </a:p>
        </p:txBody>
      </p:sp>
      <p:sp>
        <p:nvSpPr>
          <p:cNvPr id="1175747882"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A </a:t>
            </a:r>
            <a:r>
              <a:rPr sz="2000" b="0" i="0" u="none">
                <a:solidFill>
                  <a:srgbClr val="000000"/>
                </a:solidFill>
                <a:latin typeface="Times New Roman"/>
                <a:ea typeface="Times New Roman"/>
                <a:cs typeface="Times New Roman"/>
              </a:rPr>
              <a:t>Photomultiplier Tube (PMT)</a:t>
            </a:r>
            <a:r>
              <a:rPr sz="2000" b="0" i="0" u="none">
                <a:solidFill>
                  <a:srgbClr val="000000"/>
                </a:solidFill>
                <a:latin typeface="Times New Roman"/>
                <a:ea typeface="Times New Roman"/>
                <a:cs typeface="Times New Roman"/>
              </a:rPr>
              <a:t> is an </a:t>
            </a:r>
            <a:r>
              <a:rPr sz="2000" b="0" i="0" u="none">
                <a:solidFill>
                  <a:srgbClr val="000000"/>
                </a:solidFill>
                <a:latin typeface="Times New Roman"/>
                <a:ea typeface="Times New Roman"/>
                <a:cs typeface="Times New Roman"/>
              </a:rPr>
              <a:t>extremely sensitive light detector</a:t>
            </a:r>
            <a:r>
              <a:rPr sz="2000" b="0" i="0" u="none">
                <a:solidFill>
                  <a:srgbClr val="000000"/>
                </a:solidFill>
                <a:latin typeface="Times New Roman"/>
                <a:ea typeface="Times New Roman"/>
                <a:cs typeface="Times New Roman"/>
              </a:rPr>
              <a:t> that can detect even a </a:t>
            </a:r>
            <a:r>
              <a:rPr sz="2000" b="0" i="0" u="none">
                <a:solidFill>
                  <a:srgbClr val="000000"/>
                </a:solidFill>
                <a:latin typeface="Times New Roman"/>
                <a:ea typeface="Times New Roman"/>
                <a:cs typeface="Times New Roman"/>
              </a:rPr>
              <a:t>single photon</a:t>
            </a:r>
            <a:r>
              <a:rPr sz="2000" b="0" i="0" u="none">
                <a:solidFill>
                  <a:srgbClr val="000000"/>
                </a:solidFill>
                <a:latin typeface="Times New Roman"/>
                <a:ea typeface="Times New Roman"/>
                <a:cs typeface="Times New Roman"/>
              </a:rPr>
              <a:t> by amplifying it into a measurable electrical signal.</a:t>
            </a:r>
            <a:endParaRPr sz="2000" b="0"/>
          </a:p>
        </p:txBody>
      </p:sp>
      <p:pic>
        <p:nvPicPr>
          <p:cNvPr id="76171521" name=""/>
          <p:cNvPicPr>
            <a:picLocks noChangeAspect="1"/>
          </p:cNvPicPr>
          <p:nvPr/>
        </p:nvPicPr>
        <p:blipFill rotWithShape="1">
          <a:blip r:embed="rId3"/>
          <a:stretch/>
        </p:blipFill>
        <p:spPr bwMode="auto">
          <a:xfrm flipH="0" flipV="0">
            <a:off x="6162091" y="3198520"/>
            <a:ext cx="5621785" cy="3349722"/>
          </a:xfrm>
          <a:prstGeom prst="rect">
            <a:avLst/>
          </a:prstGeom>
        </p:spPr>
      </p:pic>
      <p:pic>
        <p:nvPicPr>
          <p:cNvPr id="98253963" name=""/>
          <p:cNvPicPr>
            <a:picLocks noChangeAspect="1"/>
          </p:cNvPicPr>
          <p:nvPr/>
        </p:nvPicPr>
        <p:blipFill rotWithShape="1">
          <a:blip r:embed="rId4"/>
          <a:stretch/>
        </p:blipFill>
        <p:spPr bwMode="auto">
          <a:xfrm flipH="0" flipV="0">
            <a:off x="392754" y="2585356"/>
            <a:ext cx="5326224" cy="402052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0957809" name="Title 1"/>
          <p:cNvSpPr>
            <a:spLocks noGrp="1"/>
          </p:cNvSpPr>
          <p:nvPr>
            <p:ph type="title"/>
          </p:nvPr>
        </p:nvSpPr>
        <p:spPr bwMode="auto"/>
        <p:txBody>
          <a:bodyPr/>
          <a:lstStyle/>
          <a:p>
            <a:pPr>
              <a:defRPr/>
            </a:pPr>
            <a:endParaRPr/>
          </a:p>
        </p:txBody>
      </p:sp>
      <p:sp>
        <p:nvSpPr>
          <p:cNvPr id="1106174213" name="Content Placeholder 2"/>
          <p:cNvSpPr>
            <a:spLocks noGrp="1"/>
          </p:cNvSpPr>
          <p:nvPr>
            <p:ph idx="1"/>
          </p:nvPr>
        </p:nvSpPr>
        <p:spPr bwMode="auto">
          <a:xfrm flipH="0" flipV="0">
            <a:off x="838199" y="554846"/>
            <a:ext cx="10515600" cy="5622116"/>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0" i="0" u="none">
                <a:solidFill>
                  <a:srgbClr val="000000"/>
                </a:solidFill>
                <a:latin typeface="Times New Roman"/>
                <a:ea typeface="Times New Roman"/>
                <a:cs typeface="Times New Roman"/>
              </a:rPr>
              <a:t>First, light enters the photomultiplier tube and falls on a </a:t>
            </a:r>
            <a:r>
              <a:rPr sz="2000" b="0" i="0" u="none">
                <a:solidFill>
                  <a:srgbClr val="000000"/>
                </a:solidFill>
                <a:latin typeface="Times New Roman"/>
                <a:ea typeface="Times New Roman"/>
                <a:cs typeface="Times New Roman"/>
              </a:rPr>
              <a:t>light-sensitive metal surface called the photocathode</a:t>
            </a:r>
            <a:r>
              <a:rPr sz="2000" b="0" i="0" u="none">
                <a:solidFill>
                  <a:srgbClr val="000000"/>
                </a:solidFill>
                <a:latin typeface="Times New Roman"/>
                <a:ea typeface="Times New Roman"/>
                <a:cs typeface="Times New Roman"/>
              </a:rPr>
              <a:t>. The photocathode works on the principle of the </a:t>
            </a:r>
            <a:r>
              <a:rPr sz="2000" b="0" i="0" u="none">
                <a:solidFill>
                  <a:srgbClr val="000000"/>
                </a:solidFill>
                <a:latin typeface="Times New Roman"/>
                <a:ea typeface="Times New Roman"/>
                <a:cs typeface="Times New Roman"/>
              </a:rPr>
              <a:t>photoelectric effect</a:t>
            </a:r>
            <a:r>
              <a:rPr sz="2000" b="0" i="0" u="none">
                <a:solidFill>
                  <a:srgbClr val="000000"/>
                </a:solidFill>
                <a:latin typeface="Times New Roman"/>
                <a:ea typeface="Times New Roman"/>
                <a:cs typeface="Times New Roman"/>
              </a:rPr>
              <a:t>, which means that when light falls on it, it emits </a:t>
            </a:r>
            <a:r>
              <a:rPr sz="2000" b="0" i="0" u="none">
                <a:solidFill>
                  <a:srgbClr val="000000"/>
                </a:solidFill>
                <a:latin typeface="Times New Roman"/>
                <a:ea typeface="Times New Roman"/>
                <a:cs typeface="Times New Roman"/>
              </a:rPr>
              <a:t>electrons</a:t>
            </a:r>
            <a:r>
              <a:rPr sz="2000" b="0" i="0" u="none">
                <a:solidFill>
                  <a:srgbClr val="000000"/>
                </a:solidFill>
                <a:latin typeface="Times New Roman"/>
                <a:ea typeface="Times New Roman"/>
                <a:cs typeface="Times New Roman"/>
              </a:rPr>
              <a:t> </a:t>
            </a:r>
            <a:r>
              <a:rPr lang="en-IN" sz="2000" b="0">
                <a:latin typeface="Times New Roman"/>
                <a:ea typeface="Times New Roman"/>
                <a:cs typeface="Times New Roman"/>
              </a:rPr>
              <a: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The emission of electrons depends on the intensity of the incident light. If the light intensity is high, more electrons are emitted, and if the light intensity is low, fewer electrons are emitted. However, these emitted electrons are very weak and are present in a small quantity.</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To increase their energy, a </a:t>
            </a:r>
            <a:r>
              <a:rPr sz="2000" b="0" i="0" u="none">
                <a:solidFill>
                  <a:srgbClr val="000000"/>
                </a:solidFill>
                <a:latin typeface="Times New Roman"/>
                <a:ea typeface="Times New Roman"/>
                <a:cs typeface="Times New Roman"/>
              </a:rPr>
              <a:t>high voltage is applied</a:t>
            </a:r>
            <a:r>
              <a:rPr sz="2000" b="0" i="0" u="none">
                <a:solidFill>
                  <a:srgbClr val="000000"/>
                </a:solidFill>
                <a:latin typeface="Times New Roman"/>
                <a:ea typeface="Times New Roman"/>
                <a:cs typeface="Times New Roman"/>
              </a:rPr>
              <a:t> inside the tube. Due to this applied voltage, the emitted electrons are accelerated and made to travel at high speed toward the first dynode.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The </a:t>
            </a:r>
            <a:r>
              <a:rPr sz="2000" b="0" i="0" u="none">
                <a:solidFill>
                  <a:srgbClr val="000000"/>
                </a:solidFill>
                <a:latin typeface="Times New Roman"/>
                <a:ea typeface="Times New Roman"/>
                <a:cs typeface="Times New Roman"/>
              </a:rPr>
              <a:t>dynodes</a:t>
            </a:r>
            <a:r>
              <a:rPr sz="2000" b="0" i="0" u="none">
                <a:solidFill>
                  <a:srgbClr val="000000"/>
                </a:solidFill>
                <a:latin typeface="Times New Roman"/>
                <a:ea typeface="Times New Roman"/>
                <a:cs typeface="Times New Roman"/>
              </a:rPr>
              <a:t> are a series of metal plates arranged inside the tube, each maintained at a progressively higher voltage. The main function of dynodes is </a:t>
            </a:r>
            <a:r>
              <a:rPr sz="2000" b="0" i="0" u="none">
                <a:solidFill>
                  <a:srgbClr val="000000"/>
                </a:solidFill>
                <a:latin typeface="Times New Roman"/>
                <a:ea typeface="Times New Roman"/>
                <a:cs typeface="Times New Roman"/>
              </a:rPr>
              <a:t>electron multiplication</a:t>
            </a:r>
            <a:r>
              <a:rPr sz="2000" b="0" i="0" u="none">
                <a:solidFill>
                  <a:srgbClr val="000000"/>
                </a:solidFill>
                <a:latin typeface="Times New Roman"/>
                <a:ea typeface="Times New Roman"/>
                <a:cs typeface="Times New Roman"/>
              </a:rPr>
              <a:t>.</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When a high-speed electron strikes the first dynode, it releases multiple secondary electrons. This process is called </a:t>
            </a:r>
            <a:r>
              <a:rPr sz="2000" b="0" i="0" u="none">
                <a:solidFill>
                  <a:srgbClr val="000000"/>
                </a:solidFill>
                <a:latin typeface="Times New Roman"/>
                <a:ea typeface="Times New Roman"/>
                <a:cs typeface="Times New Roman"/>
              </a:rPr>
              <a:t>secondary emission</a:t>
            </a:r>
            <a:r>
              <a:rPr sz="2000" b="0" i="0" u="none">
                <a:solidFill>
                  <a:srgbClr val="000000"/>
                </a:solidFill>
                <a:latin typeface="Times New Roman"/>
                <a:ea typeface="Times New Roman"/>
                <a:cs typeface="Times New Roman"/>
              </a:rPr>
              <a:t>. For example, one electron may produce two or more electrons after striking a dynode.</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These newly generated electrons are again accelerated toward the next dynode, where further multiplication occurs. This process continues through multiple dynodes, resulting in a large number of electrons. Thus, at each stage, the number of electrons increases, leading to </a:t>
            </a:r>
            <a:r>
              <a:rPr sz="2000" b="0" i="0" u="none">
                <a:solidFill>
                  <a:srgbClr val="000000"/>
                </a:solidFill>
                <a:latin typeface="Times New Roman"/>
                <a:ea typeface="Times New Roman"/>
                <a:cs typeface="Times New Roman"/>
              </a:rPr>
              <a:t>exponential amplification</a:t>
            </a:r>
            <a:r>
              <a:rPr sz="2000" b="0" i="0" u="none">
                <a:solidFill>
                  <a:srgbClr val="000000"/>
                </a:solidFill>
                <a:latin typeface="Times New Roman"/>
                <a:ea typeface="Times New Roman"/>
                <a:cs typeface="Times New Roman"/>
              </a:rPr>
              <a:t>.</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5121030" name="Title 1"/>
          <p:cNvSpPr>
            <a:spLocks noGrp="1"/>
          </p:cNvSpPr>
          <p:nvPr>
            <p:ph type="title"/>
          </p:nvPr>
        </p:nvSpPr>
        <p:spPr bwMode="auto"/>
        <p:txBody>
          <a:bodyPr/>
          <a:lstStyle/>
          <a:p>
            <a:pPr>
              <a:defRPr/>
            </a:pPr>
            <a:endParaRPr/>
          </a:p>
        </p:txBody>
      </p:sp>
      <p:sp>
        <p:nvSpPr>
          <p:cNvPr id="584609780"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To achieve high amplification, multiple dynodes are used in the tube. The more the number of dynodes, the greater will be the multiplication of electrons.</a:t>
            </a:r>
            <a:endParaRPr sz="2000" b="0"/>
          </a:p>
          <a:p>
            <a:pPr>
              <a:defRPr/>
            </a:pPr>
            <a:r>
              <a:rPr sz="2000" b="0" i="0" u="none">
                <a:solidFill>
                  <a:srgbClr val="000000"/>
                </a:solidFill>
                <a:latin typeface="Times New Roman"/>
                <a:ea typeface="Times New Roman"/>
                <a:cs typeface="Times New Roman"/>
              </a:rPr>
              <a:t>Finally, all the multiplied electrons reach the </a:t>
            </a:r>
            <a:r>
              <a:rPr sz="2000" b="0" i="0" u="none">
                <a:solidFill>
                  <a:srgbClr val="000000"/>
                </a:solidFill>
                <a:latin typeface="Times New Roman"/>
                <a:ea typeface="Times New Roman"/>
                <a:cs typeface="Times New Roman"/>
              </a:rPr>
              <a:t>anode</a:t>
            </a:r>
            <a:r>
              <a:rPr sz="2000" b="0" i="0" u="none">
                <a:solidFill>
                  <a:srgbClr val="000000"/>
                </a:solidFill>
                <a:latin typeface="Times New Roman"/>
                <a:ea typeface="Times New Roman"/>
                <a:cs typeface="Times New Roman"/>
              </a:rPr>
              <a:t>, which is the output electrode of the photomultiplier tube. The anode collects these electrons and converts them into an </a:t>
            </a:r>
            <a:r>
              <a:rPr sz="2000" b="0" i="0" u="none">
                <a:solidFill>
                  <a:srgbClr val="000000"/>
                </a:solidFill>
                <a:latin typeface="Times New Roman"/>
                <a:ea typeface="Times New Roman"/>
                <a:cs typeface="Times New Roman"/>
              </a:rPr>
              <a:t>electrical current</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Thus, a very weak input light signal is converted into a strong electrical signal at the output. In other words, the photomultiplier tube amplifies weak light signals into measurable electrical signals.</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4905282" name="Title 1"/>
          <p:cNvSpPr>
            <a:spLocks noGrp="1"/>
          </p:cNvSpPr>
          <p:nvPr>
            <p:ph type="title"/>
          </p:nvPr>
        </p:nvSpPr>
        <p:spPr bwMode="auto"/>
        <p:txBody>
          <a:bodyPr/>
          <a:lstStyle/>
          <a:p>
            <a:pPr>
              <a:defRPr/>
            </a:pPr>
            <a:endParaRPr/>
          </a:p>
        </p:txBody>
      </p:sp>
      <p:sp>
        <p:nvSpPr>
          <p:cNvPr id="1366230022" name="Content Placeholder 2"/>
          <p:cNvSpPr>
            <a:spLocks noGrp="1"/>
          </p:cNvSpPr>
          <p:nvPr>
            <p:ph idx="1"/>
          </p:nvPr>
        </p:nvSpPr>
        <p:spPr bwMode="auto">
          <a:xfrm flipH="0" flipV="0">
            <a:off x="838199" y="846428"/>
            <a:ext cx="10515600" cy="5330534"/>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1" i="0" u="none">
                <a:solidFill>
                  <a:srgbClr val="000000"/>
                </a:solidFill>
                <a:latin typeface="Times New Roman"/>
                <a:ea typeface="Times New Roman"/>
                <a:cs typeface="Times New Roman"/>
              </a:rPr>
              <a:t>Key Features</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Extremely </a:t>
            </a:r>
            <a:r>
              <a:rPr sz="2000" b="0" i="0" u="none">
                <a:solidFill>
                  <a:srgbClr val="000000"/>
                </a:solidFill>
                <a:latin typeface="Times New Roman"/>
                <a:ea typeface="Times New Roman"/>
                <a:cs typeface="Times New Roman"/>
              </a:rPr>
              <a:t>high sensitivity</a:t>
            </a:r>
            <a:r>
              <a:rPr sz="2000" b="0" i="0" u="none">
                <a:solidFill>
                  <a:srgbClr val="000000"/>
                </a:solidFill>
                <a:latin typeface="Times New Roman"/>
                <a:ea typeface="Times New Roman"/>
                <a:cs typeface="Times New Roman"/>
              </a:rPr>
              <a:t> (detects single photons) </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Fast response time</a:t>
            </a:r>
            <a:r>
              <a:rPr sz="2000" b="0" i="0" u="none">
                <a:solidFill>
                  <a:srgbClr val="000000"/>
                </a:solidFill>
                <a:latin typeface="Times New Roman"/>
                <a:ea typeface="Times New Roman"/>
                <a:cs typeface="Times New Roman"/>
              </a:rPr>
              <a:t> (nanoseconds) </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 </a:t>
            </a:r>
            <a:r>
              <a:rPr sz="2000" b="0" i="0" u="none">
                <a:solidFill>
                  <a:srgbClr val="000000"/>
                </a:solidFill>
                <a:latin typeface="Times New Roman"/>
                <a:ea typeface="Times New Roman"/>
                <a:cs typeface="Times New Roman"/>
              </a:rPr>
              <a:t>Low noise</a:t>
            </a:r>
            <a:endParaRPr sz="2000" b="0">
              <a:latin typeface="Times New Roman"/>
              <a:ea typeface="Times New Roman"/>
              <a:cs typeface="Times New Roman"/>
            </a:endParaRPr>
          </a:p>
          <a:p>
            <a:pPr marL="0" indent="0">
              <a:buFont typeface="Arial"/>
              <a:buNone/>
              <a:defRPr/>
            </a:pPr>
            <a:endParaRPr sz="2000" b="0">
              <a:latin typeface="Times New Roman"/>
              <a:cs typeface="Times New Roman"/>
            </a:endParaRPr>
          </a:p>
          <a:p>
            <a:pPr>
              <a:defRPr/>
            </a:pPr>
            <a:r>
              <a:rPr sz="2000" b="1" i="0" u="none">
                <a:solidFill>
                  <a:srgbClr val="000000"/>
                </a:solidFill>
                <a:latin typeface="Times New Roman"/>
                <a:ea typeface="Times New Roman"/>
                <a:cs typeface="Times New Roman"/>
              </a:rPr>
              <a:t>Common Applications</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Medical &amp; Biomedical</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PET scanners (Positron Emission Tomography)</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Scientific Research</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Nuclear radiation detection</a:t>
            </a:r>
            <a:endParaRPr sz="2000" b="0">
              <a:latin typeface="Times New Roman"/>
              <a:cs typeface="Times New Roman"/>
            </a:endParaRPr>
          </a:p>
          <a:p>
            <a:pPr>
              <a:defRPr/>
            </a:pPr>
            <a:r>
              <a:rPr sz="2000" b="0" i="0" u="sng">
                <a:solidFill>
                  <a:srgbClr val="000000"/>
                </a:solidFill>
                <a:latin typeface="Times New Roman"/>
                <a:ea typeface="Times New Roman"/>
                <a:cs typeface="Times New Roman"/>
              </a:rPr>
              <a:t>Astronomy</a:t>
            </a:r>
            <a:endParaRPr sz="2000" b="0">
              <a:latin typeface="Times New Roman"/>
              <a:cs typeface="Times New Roman"/>
            </a:endParaRPr>
          </a:p>
          <a:p>
            <a:pPr>
              <a:defRPr/>
            </a:pPr>
            <a:r>
              <a:rPr sz="2000" b="0" i="0" u="none">
                <a:solidFill>
                  <a:srgbClr val="000000"/>
                </a:solidFill>
                <a:latin typeface="Times New Roman"/>
                <a:ea typeface="Times New Roman"/>
                <a:cs typeface="Times New Roman"/>
              </a:rPr>
              <a:t>Detection of faint light from stars and galaxies</a:t>
            </a:r>
            <a:endParaRPr sz="2000" b="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1833466" name="Title 1"/>
          <p:cNvSpPr>
            <a:spLocks noGrp="1"/>
          </p:cNvSpPr>
          <p:nvPr>
            <p:ph type="title"/>
          </p:nvPr>
        </p:nvSpPr>
        <p:spPr bwMode="auto"/>
        <p:txBody>
          <a:bodyPr/>
          <a:lstStyle/>
          <a:p>
            <a:pPr>
              <a:defRPr/>
            </a:pPr>
            <a:endParaRPr/>
          </a:p>
        </p:txBody>
      </p:sp>
      <p:sp>
        <p:nvSpPr>
          <p:cNvPr id="254953300" name="Content Placeholder 2"/>
          <p:cNvSpPr>
            <a:spLocks noGrp="1"/>
          </p:cNvSpPr>
          <p:nvPr>
            <p:ph idx="1"/>
          </p:nvPr>
        </p:nvSpPr>
        <p:spPr bwMode="auto"/>
        <p:txBody>
          <a:bodyPr/>
          <a:lstStyle/>
          <a:p>
            <a:pPr>
              <a:defRPr/>
            </a:pPr>
            <a:endParaRPr/>
          </a:p>
        </p:txBody>
      </p:sp>
      <p:graphicFrame>
        <p:nvGraphicFramePr>
          <p:cNvPr id="1284132806" name=""/>
          <p:cNvGraphicFramePr>
            <a:graphicFrameLocks xmlns:a="http://schemas.openxmlformats.org/drawingml/2006/main"/>
          </p:cNvGraphicFramePr>
          <p:nvPr/>
        </p:nvGraphicFramePr>
        <p:xfrm>
          <a:off x="2031999" y="1371600"/>
          <a:ext cx="8127999" cy="1076870"/>
        </p:xfrm>
        <a:graphic>
          <a:graphicData uri="http://schemas.openxmlformats.org/drawingml/2006/table">
            <a:tbl>
              <a:tblPr firstRow="1" firstCol="0" lastRow="0" lastCol="0" bandRow="1" bandCol="0">
                <a:tableStyleId>{5C22544A-7EE6-4342-B048-85BDC9FD1C3A}</a:tableStyleId>
              </a:tblPr>
              <a:tblGrid>
                <a:gridCol w="2031999"/>
                <a:gridCol w="2031999"/>
                <a:gridCol w="2031999"/>
                <a:gridCol w="2031999"/>
              </a:tblGrid>
              <a:tr h="365760">
                <a:tc>
                  <a:txBody>
                    <a:bodyPr/>
                    <a:p>
                      <a:pPr>
                        <a:defRPr/>
                      </a:pPr>
                      <a:r>
                        <a:rPr sz="2000" b="1" i="0" u="none">
                          <a:solidFill>
                            <a:srgbClr val="000000"/>
                          </a:solidFill>
                          <a:latin typeface="Times New Roman"/>
                          <a:ea typeface="Times New Roman"/>
                          <a:cs typeface="Times New Roman"/>
                        </a:rPr>
                        <a:t>Parameter</a:t>
                      </a:r>
                      <a:endParaRPr sz="2000">
                        <a:latin typeface="Times New Roman"/>
                        <a:cs typeface="Times New Roman"/>
                      </a:endParaRPr>
                    </a:p>
                  </a:txBody>
                  <a:tcPr/>
                </a:tc>
                <a:tc>
                  <a:txBody>
                    <a:bodyPr/>
                    <a:p>
                      <a:pPr>
                        <a:defRPr/>
                      </a:pPr>
                      <a:r>
                        <a:rPr sz="2000" b="1" i="0" u="none">
                          <a:solidFill>
                            <a:srgbClr val="000000"/>
                          </a:solidFill>
                          <a:latin typeface="Times New Roman"/>
                          <a:ea typeface="Times New Roman"/>
                          <a:cs typeface="Times New Roman"/>
                        </a:rPr>
                        <a:t>Photodiode</a:t>
                      </a:r>
                      <a:endParaRPr sz="2000">
                        <a:latin typeface="Times New Roman"/>
                        <a:cs typeface="Times New Roman"/>
                      </a:endParaRPr>
                    </a:p>
                  </a:txBody>
                  <a:tcPr/>
                </a:tc>
                <a:tc>
                  <a:txBody>
                    <a:bodyPr/>
                    <a:p>
                      <a:pPr>
                        <a:defRPr/>
                      </a:pPr>
                      <a:r>
                        <a:rPr sz="2000" b="1" i="0" u="none">
                          <a:solidFill>
                            <a:srgbClr val="000000"/>
                          </a:solidFill>
                          <a:latin typeface="Times New Roman"/>
                          <a:ea typeface="Times New Roman"/>
                          <a:cs typeface="Times New Roman"/>
                        </a:rPr>
                        <a:t>Phototransistor</a:t>
                      </a:r>
                      <a:endParaRPr sz="2000">
                        <a:latin typeface="Times New Roman"/>
                        <a:cs typeface="Times New Roman"/>
                      </a:endParaRPr>
                    </a:p>
                  </a:txBody>
                  <a:tcPr/>
                </a:tc>
                <a:tc>
                  <a:txBody>
                    <a:bodyPr/>
                    <a:p>
                      <a:pPr>
                        <a:defRPr/>
                      </a:pPr>
                      <a:r>
                        <a:rPr sz="2000" b="1" i="0" u="none">
                          <a:solidFill>
                            <a:srgbClr val="000000"/>
                          </a:solidFill>
                          <a:latin typeface="Times New Roman"/>
                          <a:ea typeface="Times New Roman"/>
                          <a:cs typeface="Times New Roman"/>
                        </a:rPr>
                        <a:t>Photomultiplier Tube (PMT)</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Sensitivity</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Low to moderate</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Moderate to high</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Extremely high</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Response Time</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Very fast (nanoseconds)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Slower (microseconds)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Very fast (nanoseconds)</a:t>
                      </a:r>
                      <a:endParaRPr sz="2000">
                        <a:latin typeface="Times New Roman"/>
                        <a:cs typeface="Times New Roman"/>
                      </a:endParaRPr>
                    </a:p>
                  </a:txBody>
                  <a:tcPr/>
                </a:tc>
              </a:tr>
              <a:tr h="365760">
                <a:tc>
                  <a:txBody>
                    <a:bodyPr/>
                    <a:p>
                      <a:pPr>
                        <a:defRPr/>
                      </a:pPr>
                      <a:r>
                        <a:rPr sz="2000" b="1" i="0" u="none">
                          <a:solidFill>
                            <a:srgbClr val="000000"/>
                          </a:solidFill>
                          <a:latin typeface="Times New Roman"/>
                          <a:ea typeface="Times New Roman"/>
                          <a:cs typeface="Times New Roman"/>
                        </a:rPr>
                        <a:t>Applications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Optical communication, light sensing</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Switching, object detection, IR sensors</a:t>
                      </a:r>
                      <a:endParaRPr sz="2000">
                        <a:latin typeface="Times New Roman"/>
                        <a:cs typeface="Times New Roman"/>
                      </a:endParaRPr>
                    </a:p>
                  </a:txBody>
                  <a:tcPr/>
                </a:tc>
                <a:tc>
                  <a:txBody>
                    <a:bodyPr/>
                    <a:p>
                      <a:pPr>
                        <a:defRPr/>
                      </a:pPr>
                      <a:r>
                        <a:rPr sz="2000" b="0" i="0" u="none">
                          <a:solidFill>
                            <a:srgbClr val="000000"/>
                          </a:solidFill>
                          <a:latin typeface="Times New Roman"/>
                          <a:ea typeface="Times New Roman"/>
                          <a:cs typeface="Times New Roman"/>
                        </a:rPr>
                        <a:t>Medical imaging, spectroscopy, astronomy</a:t>
                      </a:r>
                      <a:endParaRPr sz="2000">
                        <a:latin typeface="Times New Roman"/>
                        <a:cs typeface="Times New Roman"/>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6093924" name="Title 1"/>
          <p:cNvSpPr>
            <a:spLocks noGrp="1"/>
          </p:cNvSpPr>
          <p:nvPr>
            <p:ph type="title"/>
          </p:nvPr>
        </p:nvSpPr>
        <p:spPr bwMode="auto"/>
        <p:txBody>
          <a:bodyPr/>
          <a:lstStyle/>
          <a:p>
            <a:pPr>
              <a:defRPr/>
            </a:pPr>
            <a:r>
              <a:rPr sz="2000" b="1" i="0" u="none">
                <a:solidFill>
                  <a:srgbClr val="000000"/>
                </a:solidFill>
                <a:latin typeface="Times New Roman"/>
                <a:ea typeface="Times New Roman"/>
                <a:cs typeface="Times New Roman"/>
              </a:rPr>
              <a:t>Self-Generating Sensors</a:t>
            </a:r>
            <a:endParaRPr sz="2000" b="1"/>
          </a:p>
        </p:txBody>
      </p:sp>
      <p:sp>
        <p:nvSpPr>
          <p:cNvPr id="349121194" name="Content Placeholder 2"/>
          <p:cNvSpPr>
            <a:spLocks noGrp="1"/>
          </p:cNvSpPr>
          <p:nvPr>
            <p:ph idx="1"/>
          </p:nvPr>
        </p:nvSpPr>
        <p:spPr bwMode="auto"/>
        <p:txBody>
          <a:bodyPr/>
          <a:lstStyle/>
          <a:p>
            <a:pPr>
              <a:defRPr/>
            </a:pPr>
            <a:r>
              <a:rPr sz="2000" b="0" i="0" u="none">
                <a:solidFill>
                  <a:srgbClr val="000000"/>
                </a:solidFill>
                <a:latin typeface="Times New Roman"/>
                <a:ea typeface="Times New Roman"/>
                <a:cs typeface="Times New Roman"/>
              </a:rPr>
              <a:t>Self-generating sensors</a:t>
            </a:r>
            <a:r>
              <a:rPr sz="2000" b="0" i="0" u="none">
                <a:solidFill>
                  <a:srgbClr val="000000"/>
                </a:solidFill>
                <a:latin typeface="Times New Roman"/>
                <a:ea typeface="Times New Roman"/>
                <a:cs typeface="Times New Roman"/>
              </a:rPr>
              <a:t> are sensors that </a:t>
            </a:r>
            <a:r>
              <a:rPr sz="2000" b="0" i="0" u="none">
                <a:solidFill>
                  <a:srgbClr val="000000"/>
                </a:solidFill>
                <a:latin typeface="Times New Roman"/>
                <a:ea typeface="Times New Roman"/>
                <a:cs typeface="Times New Roman"/>
              </a:rPr>
              <a:t>produce their own electrical output signal directly from the physical quantity being measured, without the need for any external power supply</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In these sensors, the input energy such as light, heat, or pressure is directly converted into electrical energy. This means the sensor itself generates voltage or current when it is exposed to the physical quantity.</a:t>
            </a:r>
            <a:endParaRPr sz="2000" b="0"/>
          </a:p>
          <a:p>
            <a:pPr>
              <a:defRPr/>
            </a:pPr>
            <a:r>
              <a:rPr sz="2000" b="0" i="0" u="none">
                <a:solidFill>
                  <a:srgbClr val="000000"/>
                </a:solidFill>
                <a:latin typeface="Times New Roman"/>
                <a:ea typeface="Times New Roman"/>
                <a:cs typeface="Times New Roman"/>
              </a:rPr>
              <a:t>For example, in a thermocouple, heat is converted into voltage; in a piezoelectric sensor, pressure is converted into electrical signal; and in a photovoltaic cell, light is converted into current.</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5432003" name="Title 1"/>
          <p:cNvSpPr>
            <a:spLocks noGrp="1"/>
          </p:cNvSpPr>
          <p:nvPr>
            <p:ph type="title"/>
          </p:nvPr>
        </p:nvSpPr>
        <p:spPr bwMode="auto"/>
        <p:txBody>
          <a:bodyPr/>
          <a:lstStyle/>
          <a:p>
            <a:pPr>
              <a:defRPr/>
            </a:pPr>
            <a:r>
              <a:rPr lang="en-US" sz="2000" b="1" i="0" u="none" strike="noStrike" cap="none" spc="0">
                <a:solidFill>
                  <a:srgbClr val="000000"/>
                </a:solidFill>
                <a:latin typeface="Times New Roman"/>
                <a:ea typeface="Times New Roman"/>
                <a:cs typeface="Times New Roman"/>
              </a:rPr>
              <a:t>Self-Generating Sensor</a:t>
            </a:r>
            <a:r>
              <a:rPr lang="en-IN" sz="2000" b="1"/>
              <a:t> </a:t>
            </a:r>
            <a:r>
              <a:rPr lang="en-IN" sz="2000" b="1" i="0" u="none">
                <a:solidFill>
                  <a:srgbClr val="000000"/>
                </a:solidFill>
                <a:latin typeface="Times New Roman"/>
                <a:ea typeface="Times New Roman"/>
                <a:cs typeface="Times New Roman"/>
              </a:rPr>
              <a:t>a</a:t>
            </a:r>
            <a:r>
              <a:rPr sz="2000" b="1" i="0" u="none">
                <a:solidFill>
                  <a:srgbClr val="000000"/>
                </a:solidFill>
                <a:latin typeface="Times New Roman"/>
                <a:ea typeface="Times New Roman"/>
                <a:cs typeface="Times New Roman"/>
              </a:rPr>
              <a:t>dvantages over Externally Powered Sensors</a:t>
            </a:r>
            <a:endParaRPr sz="2000" b="1"/>
          </a:p>
        </p:txBody>
      </p:sp>
      <p:sp>
        <p:nvSpPr>
          <p:cNvPr id="908863514" name="Content Placeholder 2"/>
          <p:cNvSpPr>
            <a:spLocks noGrp="1"/>
          </p:cNvSpPr>
          <p:nvPr>
            <p:ph idx="1"/>
          </p:nvPr>
        </p:nvSpPr>
        <p:spPr bwMode="auto"/>
        <p:txBody>
          <a:bodyPr/>
          <a:lstStyle/>
          <a:p>
            <a:pPr marL="0" indent="0">
              <a:buFont typeface="Arial"/>
              <a:buNone/>
              <a:defRPr/>
            </a:pPr>
            <a:r>
              <a:rPr sz="2000" b="1" i="0" u="none">
                <a:solidFill>
                  <a:srgbClr val="000000"/>
                </a:solidFill>
                <a:latin typeface="Times New Roman"/>
                <a:ea typeface="Times New Roman"/>
                <a:cs typeface="Times New Roman"/>
              </a:rPr>
              <a:t>1. No External Power Required</a:t>
            </a:r>
            <a:endParaRPr sz="2000"/>
          </a:p>
          <a:p>
            <a:pPr>
              <a:defRPr/>
            </a:pPr>
            <a:r>
              <a:rPr sz="2000" b="0" i="0" u="none">
                <a:solidFill>
                  <a:srgbClr val="000000"/>
                </a:solidFill>
                <a:latin typeface="Times New Roman"/>
                <a:ea typeface="Times New Roman"/>
                <a:cs typeface="Times New Roman"/>
              </a:rPr>
              <a:t>They do not need batteries or power supply, so the system becomes simple.</a:t>
            </a:r>
            <a:endParaRPr sz="2000"/>
          </a:p>
          <a:p>
            <a:pPr marL="0" indent="0">
              <a:buFont typeface="Arial"/>
              <a:buNone/>
              <a:defRPr/>
            </a:pPr>
            <a:r>
              <a:rPr sz="2000" b="1" i="0" u="none">
                <a:solidFill>
                  <a:srgbClr val="000000"/>
                </a:solidFill>
                <a:latin typeface="Times New Roman"/>
                <a:ea typeface="Times New Roman"/>
                <a:cs typeface="Times New Roman"/>
              </a:rPr>
              <a:t>2. Suitable for Remote Locations</a:t>
            </a:r>
            <a:endParaRPr sz="2000"/>
          </a:p>
          <a:p>
            <a:pPr>
              <a:defRPr/>
            </a:pPr>
            <a:r>
              <a:rPr sz="2000" b="0" i="0" u="none">
                <a:solidFill>
                  <a:srgbClr val="000000"/>
                </a:solidFill>
                <a:latin typeface="Times New Roman"/>
                <a:ea typeface="Times New Roman"/>
                <a:cs typeface="Times New Roman"/>
              </a:rPr>
              <a:t>Can be used in places where power supply is not available.</a:t>
            </a:r>
            <a:endParaRPr sz="2000"/>
          </a:p>
          <a:p>
            <a:pPr marL="0" indent="0">
              <a:buFont typeface="Arial"/>
              <a:buNone/>
              <a:defRPr/>
            </a:pPr>
            <a:r>
              <a:rPr sz="2000" b="1" i="0" u="none">
                <a:solidFill>
                  <a:srgbClr val="000000"/>
                </a:solidFill>
                <a:latin typeface="Times New Roman"/>
                <a:ea typeface="Times New Roman"/>
                <a:cs typeface="Times New Roman"/>
              </a:rPr>
              <a:t>3. Simple and Compact Design</a:t>
            </a:r>
            <a:endParaRPr sz="2000"/>
          </a:p>
          <a:p>
            <a:pPr>
              <a:defRPr/>
            </a:pPr>
            <a:r>
              <a:rPr sz="2000" b="0" i="0" u="none">
                <a:solidFill>
                  <a:srgbClr val="000000"/>
                </a:solidFill>
                <a:latin typeface="Times New Roman"/>
                <a:ea typeface="Times New Roman"/>
                <a:cs typeface="Times New Roman"/>
              </a:rPr>
              <a:t>Less circuitry is required, making the system smaller and easier to maintain.</a:t>
            </a:r>
            <a:endParaRPr sz="2000"/>
          </a:p>
          <a:p>
            <a:pPr marL="0" indent="0">
              <a:buFont typeface="Arial"/>
              <a:buNone/>
              <a:defRPr/>
            </a:pPr>
            <a:r>
              <a:rPr sz="2000" b="1" i="0" u="none">
                <a:solidFill>
                  <a:srgbClr val="000000"/>
                </a:solidFill>
                <a:latin typeface="Times New Roman"/>
                <a:ea typeface="Times New Roman"/>
                <a:cs typeface="Times New Roman"/>
              </a:rPr>
              <a:t>4. High Reliability</a:t>
            </a:r>
            <a:endParaRPr sz="2000"/>
          </a:p>
          <a:p>
            <a:pPr>
              <a:defRPr/>
            </a:pPr>
            <a:r>
              <a:rPr sz="2000" b="0" i="0" u="none">
                <a:solidFill>
                  <a:srgbClr val="000000"/>
                </a:solidFill>
                <a:latin typeface="Times New Roman"/>
                <a:ea typeface="Times New Roman"/>
                <a:cs typeface="Times New Roman"/>
              </a:rPr>
              <a:t>Since fewer components are used, chances of failure are less.</a:t>
            </a:r>
            <a:endParaRPr sz="2000"/>
          </a:p>
          <a:p>
            <a:pPr marL="0" indent="0">
              <a:buFont typeface="Arial"/>
              <a:buNone/>
              <a:defRPr/>
            </a:pPr>
            <a:r>
              <a:rPr sz="2000" b="1" i="0" u="none">
                <a:solidFill>
                  <a:srgbClr val="000000"/>
                </a:solidFill>
                <a:latin typeface="Times New Roman"/>
                <a:ea typeface="Times New Roman"/>
                <a:cs typeface="Times New Roman"/>
              </a:rPr>
              <a:t>5. Energy Efficient</a:t>
            </a:r>
            <a:endParaRPr sz="2000"/>
          </a:p>
          <a:p>
            <a:pPr>
              <a:defRPr/>
            </a:pPr>
            <a:r>
              <a:rPr sz="2000" b="0" i="0" u="none">
                <a:solidFill>
                  <a:srgbClr val="000000"/>
                </a:solidFill>
                <a:latin typeface="Times New Roman"/>
                <a:ea typeface="Times New Roman"/>
                <a:cs typeface="Times New Roman"/>
              </a:rPr>
              <a:t>They use the input energy itself, so no extra energy is consumed.</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1649138" name="Title 1"/>
          <p:cNvSpPr>
            <a:spLocks noGrp="1"/>
          </p:cNvSpPr>
          <p:nvPr>
            <p:ph type="title"/>
          </p:nvPr>
        </p:nvSpPr>
        <p:spPr bwMode="auto"/>
        <p:txBody>
          <a:bodyPr/>
          <a:lstStyle/>
          <a:p>
            <a:pPr>
              <a:defRPr/>
            </a:pPr>
            <a:r>
              <a:rPr lang="en-US" sz="2000" b="1" i="0" u="none" strike="noStrike" cap="none" spc="0">
                <a:solidFill>
                  <a:srgbClr val="000000"/>
                </a:solidFill>
                <a:latin typeface="Times New Roman"/>
                <a:ea typeface="Times New Roman"/>
                <a:cs typeface="Times New Roman"/>
              </a:rPr>
              <a:t>Thermoelectric Effects</a:t>
            </a:r>
            <a:endParaRPr sz="2000"/>
          </a:p>
          <a:p>
            <a:pPr>
              <a:defRPr/>
            </a:pPr>
            <a:endParaRPr sz="2000"/>
          </a:p>
        </p:txBody>
      </p:sp>
      <p:sp>
        <p:nvSpPr>
          <p:cNvPr id="30648258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buFont typeface="Arial"/>
              <a:buNone/>
              <a:defRPr/>
            </a:pPr>
            <a:endParaRPr sz="2000" b="0"/>
          </a:p>
          <a:p>
            <a:pPr>
              <a:defRPr/>
            </a:pPr>
            <a:r>
              <a:rPr sz="2000" b="0" i="0" u="none">
                <a:solidFill>
                  <a:srgbClr val="000000"/>
                </a:solidFill>
                <a:latin typeface="Times New Roman"/>
                <a:ea typeface="Times New Roman"/>
                <a:cs typeface="Times New Roman"/>
              </a:rPr>
              <a:t>Thermoelectric effects are the phenomena in which </a:t>
            </a:r>
            <a:r>
              <a:rPr sz="2000" b="0" i="0" u="none">
                <a:solidFill>
                  <a:srgbClr val="000000"/>
                </a:solidFill>
                <a:latin typeface="Times New Roman"/>
                <a:ea typeface="Times New Roman"/>
                <a:cs typeface="Times New Roman"/>
              </a:rPr>
              <a:t>heat (temperature difference) and electrical energy are directly converted into each other</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That means:</a:t>
            </a:r>
            <a:endParaRPr sz="2000" b="0"/>
          </a:p>
          <a:p>
            <a:pPr>
              <a:defRPr/>
            </a:pPr>
            <a:r>
              <a:rPr sz="2000" b="0" i="0" u="none">
                <a:solidFill>
                  <a:srgbClr val="000000"/>
                </a:solidFill>
                <a:latin typeface="Times New Roman"/>
                <a:ea typeface="Times New Roman"/>
                <a:cs typeface="Times New Roman"/>
              </a:rPr>
              <a:t>A temperature difference can produce electricity</a:t>
            </a:r>
            <a:endParaRPr sz="2000" b="0"/>
          </a:p>
          <a:p>
            <a:pPr>
              <a:defRPr/>
            </a:pPr>
            <a:r>
              <a:rPr sz="2000" b="0" i="0" u="none">
                <a:solidFill>
                  <a:srgbClr val="000000"/>
                </a:solidFill>
                <a:latin typeface="Times New Roman"/>
                <a:ea typeface="Times New Roman"/>
                <a:cs typeface="Times New Roman"/>
              </a:rPr>
              <a:t>Or electricity can produce heating or cooling</a:t>
            </a:r>
            <a:endParaRPr sz="2000" b="0"/>
          </a:p>
          <a:p>
            <a:pPr>
              <a:defRPr/>
            </a:pPr>
            <a:r>
              <a:rPr sz="2000" b="0" i="0" u="none">
                <a:solidFill>
                  <a:srgbClr val="000000"/>
                </a:solidFill>
                <a:latin typeface="Times New Roman"/>
                <a:ea typeface="Times New Roman"/>
                <a:cs typeface="Times New Roman"/>
              </a:rPr>
              <a:t>Thermoelectric effect is a </a:t>
            </a:r>
            <a:r>
              <a:rPr sz="2000" b="0" i="0" u="none">
                <a:solidFill>
                  <a:srgbClr val="000000"/>
                </a:solidFill>
                <a:latin typeface="Times New Roman"/>
                <a:ea typeface="Times New Roman"/>
                <a:cs typeface="Times New Roman"/>
              </a:rPr>
              <a:t>general concept</a:t>
            </a:r>
            <a:r>
              <a:rPr sz="2000" b="0" i="0" u="none">
                <a:solidFill>
                  <a:srgbClr val="000000"/>
                </a:solidFill>
                <a:latin typeface="Times New Roman"/>
                <a:ea typeface="Times New Roman"/>
                <a:cs typeface="Times New Roman"/>
              </a:rPr>
              <a:t>.</a:t>
            </a:r>
            <a:endParaRPr sz="2000" b="0"/>
          </a:p>
          <a:p>
            <a:pPr>
              <a:defRPr/>
            </a:pPr>
            <a:endParaRPr sz="2000" b="0"/>
          </a:p>
          <a:p>
            <a:pPr>
              <a:defRPr/>
            </a:pPr>
            <a:r>
              <a:rPr sz="2000" b="0" i="0" u="none">
                <a:solidFill>
                  <a:srgbClr val="000000"/>
                </a:solidFill>
                <a:latin typeface="Times New Roman"/>
                <a:ea typeface="Times New Roman"/>
                <a:cs typeface="Times New Roman"/>
              </a:rPr>
              <a:t>Inside this concept, there are </a:t>
            </a:r>
            <a:r>
              <a:rPr sz="2000" b="0" i="0" u="none">
                <a:solidFill>
                  <a:srgbClr val="000000"/>
                </a:solidFill>
                <a:latin typeface="Times New Roman"/>
                <a:ea typeface="Times New Roman"/>
                <a:cs typeface="Times New Roman"/>
              </a:rPr>
              <a:t>three different ways energy conversion can happen</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Seebeck effect</a:t>
            </a:r>
            <a:r>
              <a:rPr sz="2000" b="0" i="0" u="none">
                <a:solidFill>
                  <a:srgbClr val="000000"/>
                </a:solidFill>
                <a:latin typeface="Times New Roman"/>
                <a:ea typeface="Times New Roman"/>
                <a:cs typeface="Times New Roman"/>
              </a:rPr>
              <a:t> → Temperature difference produces voltage </a:t>
            </a:r>
            <a:endParaRPr sz="2000" b="0"/>
          </a:p>
          <a:p>
            <a:pPr>
              <a:defRPr/>
            </a:pPr>
            <a:r>
              <a:rPr sz="2000" b="0" i="0" u="none">
                <a:solidFill>
                  <a:srgbClr val="000000"/>
                </a:solidFill>
                <a:latin typeface="Times New Roman"/>
                <a:ea typeface="Times New Roman"/>
                <a:cs typeface="Times New Roman"/>
              </a:rPr>
              <a:t>Peltier effect</a:t>
            </a:r>
            <a:r>
              <a:rPr sz="2000" b="0" i="0" u="none">
                <a:solidFill>
                  <a:srgbClr val="000000"/>
                </a:solidFill>
                <a:latin typeface="Times New Roman"/>
                <a:ea typeface="Times New Roman"/>
                <a:cs typeface="Times New Roman"/>
              </a:rPr>
              <a:t> → Current produces heating/cooling </a:t>
            </a:r>
            <a:endParaRPr sz="2000" b="0"/>
          </a:p>
          <a:p>
            <a:pPr>
              <a:defRPr/>
            </a:pPr>
            <a:r>
              <a:rPr sz="2000" b="0" i="0" u="none">
                <a:solidFill>
                  <a:srgbClr val="000000"/>
                </a:solidFill>
                <a:latin typeface="Times New Roman"/>
                <a:ea typeface="Times New Roman"/>
                <a:cs typeface="Times New Roman"/>
              </a:rPr>
              <a:t>Thomson effect</a:t>
            </a:r>
            <a:r>
              <a:rPr sz="2000" b="0" i="0" u="none">
                <a:solidFill>
                  <a:srgbClr val="000000"/>
                </a:solidFill>
                <a:latin typeface="Times New Roman"/>
                <a:ea typeface="Times New Roman"/>
                <a:cs typeface="Times New Roman"/>
              </a:rPr>
              <a:t> → Current + temperature difference causes heat absorption/release </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9565411" name="Title 1"/>
          <p:cNvSpPr>
            <a:spLocks noGrp="1"/>
          </p:cNvSpPr>
          <p:nvPr>
            <p:ph type="title"/>
          </p:nvPr>
        </p:nvSpPr>
        <p:spPr bwMode="auto"/>
        <p:txBody>
          <a:bodyPr/>
          <a:lstStyle/>
          <a:p>
            <a:pPr>
              <a:defRPr/>
            </a:pPr>
            <a:endParaRPr/>
          </a:p>
        </p:txBody>
      </p:sp>
      <p:sp>
        <p:nvSpPr>
          <p:cNvPr id="1435916448" name="Content Placeholder 2"/>
          <p:cNvSpPr>
            <a:spLocks noGrp="1"/>
          </p:cNvSpPr>
          <p:nvPr>
            <p:ph idx="1"/>
          </p:nvPr>
        </p:nvSpPr>
        <p:spPr bwMode="auto">
          <a:xfrm flipH="0" flipV="0">
            <a:off x="838199" y="943622"/>
            <a:ext cx="10515600" cy="5233340"/>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1" i="0" u="none">
                <a:solidFill>
                  <a:srgbClr val="000000"/>
                </a:solidFill>
                <a:latin typeface="Times New Roman"/>
                <a:ea typeface="Times New Roman"/>
                <a:cs typeface="Times New Roman"/>
              </a:rPr>
              <a:t>Seebeck Effect</a:t>
            </a:r>
            <a:endParaRPr sz="2000"/>
          </a:p>
          <a:p>
            <a:pPr>
              <a:defRPr/>
            </a:pPr>
            <a:r>
              <a:rPr sz="2000" b="0" i="0" u="none">
                <a:solidFill>
                  <a:srgbClr val="000000"/>
                </a:solidFill>
                <a:latin typeface="Times New Roman"/>
                <a:ea typeface="Times New Roman"/>
                <a:cs typeface="Times New Roman"/>
              </a:rPr>
              <a:t>The </a:t>
            </a:r>
            <a:r>
              <a:rPr sz="2000" b="0" i="0" u="none">
                <a:solidFill>
                  <a:srgbClr val="000000"/>
                </a:solidFill>
                <a:latin typeface="Times New Roman"/>
                <a:ea typeface="Times New Roman"/>
                <a:cs typeface="Times New Roman"/>
              </a:rPr>
              <a:t>Seebeck effect</a:t>
            </a:r>
            <a:r>
              <a:rPr sz="2000" b="0" i="0" u="none">
                <a:solidFill>
                  <a:srgbClr val="000000"/>
                </a:solidFill>
                <a:latin typeface="Times New Roman"/>
                <a:ea typeface="Times New Roman"/>
                <a:cs typeface="Times New Roman"/>
              </a:rPr>
              <a:t> occurs when two different metals are joined together to form a closed circuit, and their junctions are kept at different temperatures.</a:t>
            </a:r>
            <a:endParaRPr sz="2000" b="0"/>
          </a:p>
          <a:p>
            <a:pPr>
              <a:defRPr/>
            </a:pPr>
            <a:r>
              <a:rPr sz="2000" b="0" i="0" u="none">
                <a:solidFill>
                  <a:srgbClr val="000000"/>
                </a:solidFill>
                <a:latin typeface="Times New Roman"/>
                <a:ea typeface="Times New Roman"/>
                <a:cs typeface="Times New Roman"/>
              </a:rPr>
              <a:t>Because of this temperature difference, electrons start moving from the hot region to the cold region, which creates a </a:t>
            </a:r>
            <a:r>
              <a:rPr sz="2000" b="0" i="0" u="none">
                <a:solidFill>
                  <a:srgbClr val="000000"/>
                </a:solidFill>
                <a:latin typeface="Times New Roman"/>
                <a:ea typeface="Times New Roman"/>
                <a:cs typeface="Times New Roman"/>
              </a:rPr>
              <a:t>voltage (emf)</a:t>
            </a:r>
            <a:r>
              <a:rPr sz="2000" b="0" i="0" u="none">
                <a:solidFill>
                  <a:srgbClr val="000000"/>
                </a:solidFill>
                <a:latin typeface="Times New Roman"/>
                <a:ea typeface="Times New Roman"/>
                <a:cs typeface="Times New Roman"/>
              </a:rPr>
              <a:t> in the circuit.</a:t>
            </a:r>
            <a:endParaRPr sz="2000" b="0"/>
          </a:p>
          <a:p>
            <a:pPr>
              <a:defRPr/>
            </a:pPr>
            <a:endParaRPr sz="2000"/>
          </a:p>
          <a:p>
            <a:pPr>
              <a:defRPr/>
            </a:pPr>
            <a:r>
              <a:rPr sz="2000" b="1" i="0" u="none">
                <a:solidFill>
                  <a:srgbClr val="000000"/>
                </a:solidFill>
                <a:latin typeface="Times New Roman"/>
                <a:ea typeface="Times New Roman"/>
                <a:cs typeface="Times New Roman"/>
              </a:rPr>
              <a:t>Peltier Effect</a:t>
            </a:r>
            <a:endParaRPr sz="2000"/>
          </a:p>
          <a:p>
            <a:pPr>
              <a:defRPr/>
            </a:pPr>
            <a:r>
              <a:rPr sz="2000" b="0" i="0" u="none">
                <a:solidFill>
                  <a:srgbClr val="000000"/>
                </a:solidFill>
                <a:latin typeface="Times New Roman"/>
                <a:ea typeface="Times New Roman"/>
                <a:cs typeface="Times New Roman"/>
              </a:rPr>
              <a:t>The </a:t>
            </a:r>
            <a:r>
              <a:rPr sz="2000" b="0" i="0" u="none">
                <a:solidFill>
                  <a:srgbClr val="000000"/>
                </a:solidFill>
                <a:latin typeface="Times New Roman"/>
                <a:ea typeface="Times New Roman"/>
                <a:cs typeface="Times New Roman"/>
              </a:rPr>
              <a:t>Peltier effect</a:t>
            </a:r>
            <a:r>
              <a:rPr sz="2000" b="0" i="0" u="none">
                <a:solidFill>
                  <a:srgbClr val="000000"/>
                </a:solidFill>
                <a:latin typeface="Times New Roman"/>
                <a:ea typeface="Times New Roman"/>
                <a:cs typeface="Times New Roman"/>
              </a:rPr>
              <a:t> is the opposite of the Seebeck effect.</a:t>
            </a:r>
            <a:endParaRPr sz="2000" b="0"/>
          </a:p>
          <a:p>
            <a:pPr>
              <a:defRPr/>
            </a:pPr>
            <a:r>
              <a:rPr sz="2000" b="0" i="0" u="none">
                <a:solidFill>
                  <a:srgbClr val="000000"/>
                </a:solidFill>
                <a:latin typeface="Times New Roman"/>
                <a:ea typeface="Times New Roman"/>
                <a:cs typeface="Times New Roman"/>
              </a:rPr>
              <a:t>When an electric current is passed through the junction of two different materials, heat is either </a:t>
            </a:r>
            <a:r>
              <a:rPr sz="2000" b="0" i="0" u="none">
                <a:solidFill>
                  <a:srgbClr val="000000"/>
                </a:solidFill>
                <a:latin typeface="Times New Roman"/>
                <a:ea typeface="Times New Roman"/>
                <a:cs typeface="Times New Roman"/>
              </a:rPr>
              <a:t>absorbed or released</a:t>
            </a:r>
            <a:r>
              <a:rPr sz="2000" b="0" i="0" u="none">
                <a:solidFill>
                  <a:srgbClr val="000000"/>
                </a:solidFill>
                <a:latin typeface="Times New Roman"/>
                <a:ea typeface="Times New Roman"/>
                <a:cs typeface="Times New Roman"/>
              </a:rPr>
              <a:t> at the junction.</a:t>
            </a:r>
            <a:endParaRPr sz="2000" b="0"/>
          </a:p>
          <a:p>
            <a:pPr>
              <a:defRPr/>
            </a:pPr>
            <a:r>
              <a:rPr sz="2000" b="0" i="0" u="none">
                <a:solidFill>
                  <a:srgbClr val="000000"/>
                </a:solidFill>
                <a:latin typeface="Times New Roman"/>
                <a:ea typeface="Times New Roman"/>
                <a:cs typeface="Times New Roman"/>
              </a:rPr>
              <a:t>This means one side becomes </a:t>
            </a:r>
            <a:r>
              <a:rPr sz="2000" b="0" i="0" u="none">
                <a:solidFill>
                  <a:srgbClr val="000000"/>
                </a:solidFill>
                <a:latin typeface="Times New Roman"/>
                <a:ea typeface="Times New Roman"/>
                <a:cs typeface="Times New Roman"/>
              </a:rPr>
              <a:t>cooler</a:t>
            </a:r>
            <a:r>
              <a:rPr sz="2000" b="0" i="0" u="none">
                <a:solidFill>
                  <a:srgbClr val="000000"/>
                </a:solidFill>
                <a:latin typeface="Times New Roman"/>
                <a:ea typeface="Times New Roman"/>
                <a:cs typeface="Times New Roman"/>
              </a:rPr>
              <a:t>, and the other side becomes </a:t>
            </a:r>
            <a:r>
              <a:rPr sz="2000" b="0" i="0" u="none">
                <a:solidFill>
                  <a:srgbClr val="000000"/>
                </a:solidFill>
                <a:latin typeface="Times New Roman"/>
                <a:ea typeface="Times New Roman"/>
                <a:cs typeface="Times New Roman"/>
              </a:rPr>
              <a:t>hotter</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 When current flows, it causes </a:t>
            </a:r>
            <a:r>
              <a:rPr sz="2000" b="0" i="0" u="none">
                <a:solidFill>
                  <a:srgbClr val="000000"/>
                </a:solidFill>
                <a:latin typeface="Times New Roman"/>
                <a:ea typeface="Times New Roman"/>
                <a:cs typeface="Times New Roman"/>
              </a:rPr>
              <a:t>heating at one junction and cooling at the other</a:t>
            </a:r>
            <a:r>
              <a:rPr sz="2000" b="0" i="0" u="none">
                <a:solidFill>
                  <a:srgbClr val="000000"/>
                </a:solidFill>
                <a:latin typeface="Times New Roman"/>
                <a:ea typeface="Times New Roman"/>
                <a:cs typeface="Times New Roman"/>
              </a:rPr>
              <a:t>.</a:t>
            </a:r>
            <a:endParaRPr sz="2000"/>
          </a:p>
          <a:p>
            <a:pPr>
              <a:defRPr/>
            </a:pP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3775095" name="Title 1"/>
          <p:cNvSpPr>
            <a:spLocks noGrp="1"/>
          </p:cNvSpPr>
          <p:nvPr>
            <p:ph type="title"/>
          </p:nvPr>
        </p:nvSpPr>
        <p:spPr bwMode="auto"/>
        <p:txBody>
          <a:bodyPr/>
          <a:lstStyle/>
          <a:p>
            <a:pPr>
              <a:defRPr/>
            </a:pPr>
            <a:endParaRPr/>
          </a:p>
        </p:txBody>
      </p:sp>
      <p:sp>
        <p:nvSpPr>
          <p:cNvPr id="1083032993" name="Content Placeholder 2"/>
          <p:cNvSpPr>
            <a:spLocks noGrp="1"/>
          </p:cNvSpPr>
          <p:nvPr>
            <p:ph idx="1"/>
          </p:nvPr>
        </p:nvSpPr>
        <p:spPr bwMode="auto">
          <a:xfrm flipH="0" flipV="0">
            <a:off x="838199" y="768673"/>
            <a:ext cx="10515600" cy="5408289"/>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000" b="1" i="0" u="none">
                <a:solidFill>
                  <a:srgbClr val="000000"/>
                </a:solidFill>
                <a:latin typeface="Times New Roman"/>
                <a:ea typeface="Times New Roman"/>
                <a:cs typeface="Times New Roman"/>
              </a:rPr>
              <a:t>Thomson Effect </a:t>
            </a:r>
            <a:endParaRPr sz="2000" b="0"/>
          </a:p>
          <a:p>
            <a:pPr>
              <a:defRPr/>
            </a:pPr>
            <a:r>
              <a:rPr sz="2000" b="0" i="0" u="none">
                <a:solidFill>
                  <a:srgbClr val="000000"/>
                </a:solidFill>
                <a:latin typeface="Times New Roman"/>
                <a:ea typeface="Times New Roman"/>
                <a:cs typeface="Times New Roman"/>
              </a:rPr>
              <a:t>The </a:t>
            </a:r>
            <a:r>
              <a:rPr sz="2000" b="0" i="0" u="none">
                <a:solidFill>
                  <a:srgbClr val="000000"/>
                </a:solidFill>
                <a:latin typeface="Times New Roman"/>
                <a:ea typeface="Times New Roman"/>
                <a:cs typeface="Times New Roman"/>
              </a:rPr>
              <a:t>Thomson effect</a:t>
            </a:r>
            <a:r>
              <a:rPr sz="2000" b="0" i="0" u="none">
                <a:solidFill>
                  <a:srgbClr val="000000"/>
                </a:solidFill>
                <a:latin typeface="Times New Roman"/>
                <a:ea typeface="Times New Roman"/>
                <a:cs typeface="Times New Roman"/>
              </a:rPr>
              <a:t> occurs in a single conductor when there is both </a:t>
            </a:r>
            <a:r>
              <a:rPr sz="2000" b="0" i="0" u="none">
                <a:solidFill>
                  <a:srgbClr val="000000"/>
                </a:solidFill>
                <a:latin typeface="Times New Roman"/>
                <a:ea typeface="Times New Roman"/>
                <a:cs typeface="Times New Roman"/>
              </a:rPr>
              <a:t>electric current and a temperature difference</a:t>
            </a:r>
            <a:r>
              <a:rPr sz="2000" b="0" i="0" u="none">
                <a:solidFill>
                  <a:srgbClr val="000000"/>
                </a:solidFill>
                <a:latin typeface="Times New Roman"/>
                <a:ea typeface="Times New Roman"/>
                <a:cs typeface="Times New Roman"/>
              </a:rPr>
              <a:t> along it.</a:t>
            </a:r>
            <a:endParaRPr sz="2000" b="0"/>
          </a:p>
          <a:p>
            <a:pPr>
              <a:defRPr/>
            </a:pPr>
            <a:r>
              <a:rPr sz="2000" b="0" i="0" u="none">
                <a:solidFill>
                  <a:srgbClr val="000000"/>
                </a:solidFill>
                <a:latin typeface="Times New Roman"/>
                <a:ea typeface="Times New Roman"/>
                <a:cs typeface="Times New Roman"/>
              </a:rPr>
              <a:t>Due to this, heat is either </a:t>
            </a:r>
            <a:r>
              <a:rPr sz="2000" b="0" i="0" u="none">
                <a:solidFill>
                  <a:srgbClr val="000000"/>
                </a:solidFill>
                <a:latin typeface="Times New Roman"/>
                <a:ea typeface="Times New Roman"/>
                <a:cs typeface="Times New Roman"/>
              </a:rPr>
              <a:t>absorbed or released continuously</a:t>
            </a:r>
            <a:r>
              <a:rPr sz="2000" b="0" i="0" u="none">
                <a:solidFill>
                  <a:srgbClr val="000000"/>
                </a:solidFill>
                <a:latin typeface="Times New Roman"/>
                <a:ea typeface="Times New Roman"/>
                <a:cs typeface="Times New Roman"/>
              </a:rPr>
              <a:t> along the length of the conductor.</a:t>
            </a:r>
            <a:endParaRPr sz="2000" b="0"/>
          </a:p>
          <a:p>
            <a:pPr>
              <a:defRPr/>
            </a:pPr>
            <a:r>
              <a:rPr sz="2000" b="0" i="0" u="none">
                <a:solidFill>
                  <a:srgbClr val="000000"/>
                </a:solidFill>
                <a:latin typeface="Times New Roman"/>
                <a:ea typeface="Times New Roman"/>
                <a:cs typeface="Times New Roman"/>
              </a:rPr>
              <a:t> When current flows in a conductor with temperature difference, </a:t>
            </a:r>
            <a:r>
              <a:rPr sz="2000" b="0" i="0" u="none">
                <a:solidFill>
                  <a:srgbClr val="000000"/>
                </a:solidFill>
                <a:latin typeface="Times New Roman"/>
                <a:ea typeface="Times New Roman"/>
                <a:cs typeface="Times New Roman"/>
              </a:rPr>
              <a:t>extra heating or cooling happens inside the conductor</a:t>
            </a:r>
            <a:r>
              <a:rPr sz="2000" b="0" i="0" u="none">
                <a:solidFill>
                  <a:srgbClr val="000000"/>
                </a:solidFill>
                <a:latin typeface="Times New Roman"/>
                <a:ea typeface="Times New Roman"/>
                <a:cs typeface="Times New Roman"/>
              </a:rPr>
              <a:t>.</a:t>
            </a:r>
            <a:endParaRPr sz="2000" b="0"/>
          </a:p>
          <a:p>
            <a:pPr marL="0" indent="0">
              <a:buFont typeface="Arial"/>
              <a:buNone/>
              <a:defRPr/>
            </a:pPr>
            <a:endParaRPr sz="2000" b="0"/>
          </a:p>
          <a:p>
            <a:pPr>
              <a:defRPr/>
            </a:pPr>
            <a:r>
              <a:rPr sz="2000" b="1" i="0" u="none">
                <a:solidFill>
                  <a:srgbClr val="000000"/>
                </a:solidFill>
                <a:latin typeface="Times New Roman"/>
                <a:ea typeface="Times New Roman"/>
                <a:cs typeface="Times New Roman"/>
              </a:rPr>
              <a:t>Role in Thermoelectric Sensors</a:t>
            </a:r>
            <a:endParaRPr sz="2000" b="0"/>
          </a:p>
          <a:p>
            <a:pPr>
              <a:defRPr/>
            </a:pPr>
            <a:r>
              <a:rPr sz="2000" b="0" i="0" u="none">
                <a:solidFill>
                  <a:srgbClr val="000000"/>
                </a:solidFill>
                <a:latin typeface="Times New Roman"/>
                <a:ea typeface="Times New Roman"/>
                <a:cs typeface="Times New Roman"/>
              </a:rPr>
              <a:t>Thermoelectric sensors, such as thermocouples, mainly use the </a:t>
            </a:r>
            <a:r>
              <a:rPr sz="2000" b="0" i="0" u="none">
                <a:solidFill>
                  <a:srgbClr val="000000"/>
                </a:solidFill>
                <a:latin typeface="Times New Roman"/>
                <a:ea typeface="Times New Roman"/>
                <a:cs typeface="Times New Roman"/>
              </a:rPr>
              <a:t>Seebeck effect</a:t>
            </a:r>
            <a:r>
              <a:rPr sz="2000" b="0" i="0" u="none">
                <a:solidFill>
                  <a:srgbClr val="000000"/>
                </a:solidFill>
                <a:latin typeface="Times New Roman"/>
                <a:ea typeface="Times New Roman"/>
                <a:cs typeface="Times New Roman"/>
              </a:rPr>
              <a:t>.</a:t>
            </a:r>
            <a:endParaRPr sz="2000" b="0"/>
          </a:p>
          <a:p>
            <a:pPr>
              <a:defRPr/>
            </a:pPr>
            <a:r>
              <a:rPr sz="2000" b="0" i="0" u="none">
                <a:solidFill>
                  <a:srgbClr val="000000"/>
                </a:solidFill>
                <a:latin typeface="Times New Roman"/>
                <a:ea typeface="Times New Roman"/>
                <a:cs typeface="Times New Roman"/>
              </a:rPr>
              <a:t> When there is a temperature difference between two junctions, a </a:t>
            </a:r>
            <a:r>
              <a:rPr sz="2000" b="0" i="0" u="none">
                <a:solidFill>
                  <a:srgbClr val="000000"/>
                </a:solidFill>
                <a:latin typeface="Times New Roman"/>
                <a:ea typeface="Times New Roman"/>
                <a:cs typeface="Times New Roman"/>
              </a:rPr>
              <a:t>voltage is produced</a:t>
            </a:r>
            <a:endParaRPr sz="2000" b="0"/>
          </a:p>
          <a:p>
            <a:pPr>
              <a:defRPr/>
            </a:pPr>
            <a:r>
              <a:rPr sz="2000" b="0" i="0" u="none">
                <a:solidFill>
                  <a:srgbClr val="000000"/>
                </a:solidFill>
                <a:latin typeface="Times New Roman"/>
                <a:ea typeface="Times New Roman"/>
                <a:cs typeface="Times New Roman"/>
              </a:rPr>
              <a:t> This voltage is directly related to temperature, so it can be used to </a:t>
            </a:r>
            <a:r>
              <a:rPr sz="2000" b="0" i="0" u="none">
                <a:solidFill>
                  <a:srgbClr val="000000"/>
                </a:solidFill>
                <a:latin typeface="Times New Roman"/>
                <a:ea typeface="Times New Roman"/>
                <a:cs typeface="Times New Roman"/>
              </a:rPr>
              <a:t>measure temperature</a:t>
            </a:r>
            <a:endParaRPr sz="2000" b="0"/>
          </a:p>
          <a:p>
            <a:pPr>
              <a:defRPr/>
            </a:pPr>
            <a:r>
              <a:rPr sz="2000" b="0" i="0" u="none">
                <a:solidFill>
                  <a:srgbClr val="000000"/>
                </a:solidFill>
                <a:latin typeface="Times New Roman"/>
                <a:ea typeface="Times New Roman"/>
                <a:cs typeface="Times New Roman"/>
              </a:rPr>
              <a:t> The </a:t>
            </a:r>
            <a:r>
              <a:rPr sz="2000" b="0" i="0" u="none">
                <a:solidFill>
                  <a:srgbClr val="000000"/>
                </a:solidFill>
                <a:latin typeface="Times New Roman"/>
                <a:ea typeface="Times New Roman"/>
                <a:cs typeface="Times New Roman"/>
              </a:rPr>
              <a:t>Peltier and Thomson effects</a:t>
            </a:r>
            <a:r>
              <a:rPr sz="2000" b="0" i="0" u="none">
                <a:solidFill>
                  <a:srgbClr val="000000"/>
                </a:solidFill>
                <a:latin typeface="Times New Roman"/>
                <a:ea typeface="Times New Roman"/>
                <a:cs typeface="Times New Roman"/>
              </a:rPr>
              <a:t> help in understanding heat transfer inside the sensor and improve accuracy</a:t>
            </a:r>
            <a:endParaRPr sz="2000"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ONLYOFFICE/9.1.0.167</Application>
  <PresentationFormat>On-screen Show (4:3)</PresentationFormat>
  <Paragraphs>0</Paragraphs>
  <Slides>25</Slides>
  <Notes>25</Notes>
  <HiddenSlides>0</HiddenSlides>
  <MMClips>2</MMClips>
  <ScaleCrop>0</ScaleCrop>
  <HeadingPairs>
    <vt:vector size="4" baseType="variant">
      <vt:variant>
        <vt:lpstr>Theme</vt:lpstr>
      </vt:variant>
      <vt:variant>
        <vt:i4>1</vt:i4>
      </vt:variant>
      <vt:variant>
        <vt:lpstr>Slide Titles</vt:lpstr>
      </vt:variant>
      <vt:variant>
        <vt:i4>25</vt:i4>
      </vt:variant>
    </vt:vector>
  </HeadingPairs>
  <TitlesOfParts>
    <vt:vector size="2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modified xsi:type="dcterms:W3CDTF">2026-03-27T09:10:47Z</dcterms:modified>
</cp:coreProperties>
</file>